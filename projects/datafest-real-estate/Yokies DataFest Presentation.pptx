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Nunito"/>
      <p:regular r:id="rId9"/>
      <p:bold r:id="rId10"/>
      <p:italic r:id="rId11"/>
      <p:boldItalic r:id="rId12"/>
    </p:embeddedFont>
    <p:embeddedFont>
      <p:font typeface="Maven Pro"/>
      <p:regular r:id="rId13"/>
      <p:bold r:id="rId14"/>
    </p:embeddedFont>
    <p:embeddedFont>
      <p:font typeface="EB Garamond"/>
      <p:regular r:id="rId15"/>
      <p:bold r:id="rId16"/>
      <p:italic r:id="rId17"/>
      <p:boldItalic r:id="rId18"/>
    </p:embeddedFont>
    <p:embeddedFont>
      <p:font typeface="Lexen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bold.fntdata"/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3" Type="http://schemas.openxmlformats.org/officeDocument/2006/relationships/font" Target="fonts/MavenPro-regular.fntdata"/><Relationship Id="rId12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regular.fntdata"/><Relationship Id="rId15" Type="http://schemas.openxmlformats.org/officeDocument/2006/relationships/font" Target="fonts/EBGaramond-regular.fntdata"/><Relationship Id="rId14" Type="http://schemas.openxmlformats.org/officeDocument/2006/relationships/font" Target="fonts/MavenPro-bold.fntdata"/><Relationship Id="rId17" Type="http://schemas.openxmlformats.org/officeDocument/2006/relationships/font" Target="fonts/EBGaramond-italic.fntdata"/><Relationship Id="rId16" Type="http://schemas.openxmlformats.org/officeDocument/2006/relationships/font" Target="fonts/EBGaramon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exend-regular.fntdata"/><Relationship Id="rId6" Type="http://schemas.openxmlformats.org/officeDocument/2006/relationships/slide" Target="slides/slide1.xml"/><Relationship Id="rId18" Type="http://schemas.openxmlformats.org/officeDocument/2006/relationships/font" Target="fonts/EB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c45cf60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4c45cf60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c45cf600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c45cf600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c45cf600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4c45cf600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0" y="2739480"/>
            <a:ext cx="4701450" cy="238839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/>
          <p:nvPr/>
        </p:nvSpPr>
        <p:spPr>
          <a:xfrm>
            <a:off x="377238" y="1610913"/>
            <a:ext cx="3525300" cy="677100"/>
          </a:xfrm>
          <a:prstGeom prst="rect">
            <a:avLst/>
          </a:prstGeom>
          <a:gradFill>
            <a:gsLst>
              <a:gs pos="0">
                <a:srgbClr val="CFE2F3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4927300" y="3228825"/>
            <a:ext cx="3525300" cy="1409700"/>
          </a:xfrm>
          <a:prstGeom prst="rect">
            <a:avLst/>
          </a:prstGeom>
          <a:gradFill>
            <a:gsLst>
              <a:gs pos="0">
                <a:srgbClr val="CFE2F3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13" title="Capture d’écran 2025-04-06 à 12.02.13 PM.png"/>
          <p:cNvPicPr preferRelativeResize="0"/>
          <p:nvPr/>
        </p:nvPicPr>
        <p:blipFill rotWithShape="1">
          <a:blip r:embed="rId4">
            <a:alphaModFix/>
          </a:blip>
          <a:srcRect b="-5650" l="0" r="0" t="5650"/>
          <a:stretch/>
        </p:blipFill>
        <p:spPr>
          <a:xfrm>
            <a:off x="4460225" y="1150225"/>
            <a:ext cx="4807976" cy="18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 txBox="1"/>
          <p:nvPr/>
        </p:nvSpPr>
        <p:spPr>
          <a:xfrm>
            <a:off x="1324750" y="3864750"/>
            <a:ext cx="35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317125" y="1610913"/>
            <a:ext cx="395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Elbow Method           # of clusters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Label assigned based on characteristics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4850050" y="3304425"/>
            <a:ext cx="36798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dk1"/>
                </a:solidFill>
              </a:rPr>
              <a:t>Top </a:t>
            </a:r>
            <a:r>
              <a:rPr b="1" lang="en" sz="1600">
                <a:solidFill>
                  <a:schemeClr val="dk1"/>
                </a:solidFill>
              </a:rPr>
              <a:t>7</a:t>
            </a:r>
            <a:r>
              <a:rPr lang="en" sz="1600">
                <a:solidFill>
                  <a:schemeClr val="dk1"/>
                </a:solidFill>
              </a:rPr>
              <a:t> cities with the highest lease.sf are considered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Each city is grouped based on </a:t>
            </a:r>
            <a:r>
              <a:rPr b="1" lang="en" sz="1600">
                <a:solidFill>
                  <a:schemeClr val="dk1"/>
                </a:solidFill>
              </a:rPr>
              <a:t>prevalent</a:t>
            </a:r>
            <a:r>
              <a:rPr b="1" lang="en" sz="1600">
                <a:solidFill>
                  <a:schemeClr val="dk1"/>
                </a:solidFill>
              </a:rPr>
              <a:t> clusters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284" name="Google Shape;284;p13"/>
          <p:cNvCxnSpPr/>
          <p:nvPr/>
        </p:nvCxnSpPr>
        <p:spPr>
          <a:xfrm flipH="1" rot="10800000">
            <a:off x="2059238" y="1755113"/>
            <a:ext cx="4680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13"/>
          <p:cNvSpPr txBox="1"/>
          <p:nvPr/>
        </p:nvSpPr>
        <p:spPr>
          <a:xfrm>
            <a:off x="334050" y="132450"/>
            <a:ext cx="8475900" cy="831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dk1"/>
                </a:solidFill>
              </a:rPr>
              <a:t>Objective</a:t>
            </a:r>
            <a:r>
              <a:rPr lang="en" sz="2100">
                <a:solidFill>
                  <a:schemeClr val="dk1"/>
                </a:solidFill>
              </a:rPr>
              <a:t>: Specify </a:t>
            </a:r>
            <a:r>
              <a:rPr b="1" lang="en" sz="2100">
                <a:solidFill>
                  <a:schemeClr val="dk1"/>
                </a:solidFill>
              </a:rPr>
              <a:t>where</a:t>
            </a:r>
            <a:r>
              <a:rPr lang="en" sz="2100">
                <a:solidFill>
                  <a:schemeClr val="dk1"/>
                </a:solidFill>
              </a:rPr>
              <a:t> and </a:t>
            </a:r>
            <a:r>
              <a:rPr b="1" lang="en" sz="2100">
                <a:solidFill>
                  <a:schemeClr val="dk1"/>
                </a:solidFill>
              </a:rPr>
              <a:t>when</a:t>
            </a:r>
            <a:r>
              <a:rPr lang="en" sz="2100">
                <a:solidFill>
                  <a:schemeClr val="dk1"/>
                </a:solidFill>
              </a:rPr>
              <a:t> to lease offices based on </a:t>
            </a:r>
            <a:r>
              <a:rPr b="1" lang="en" sz="2100">
                <a:solidFill>
                  <a:schemeClr val="dk1"/>
                </a:solidFill>
              </a:rPr>
              <a:t>geographic clusters</a:t>
            </a:r>
            <a:r>
              <a:rPr lang="en" sz="2100">
                <a:solidFill>
                  <a:schemeClr val="dk1"/>
                </a:solidFill>
              </a:rPr>
              <a:t> and </a:t>
            </a:r>
            <a:r>
              <a:rPr b="1" lang="en" sz="2100">
                <a:solidFill>
                  <a:schemeClr val="dk1"/>
                </a:solidFill>
              </a:rPr>
              <a:t>industry sectors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25250" y="963750"/>
            <a:ext cx="480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GENERAL FRAMEWORK</a:t>
            </a:r>
            <a:endParaRPr b="1" sz="2500">
              <a:solidFill>
                <a:srgbClr val="38761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/>
          <p:nvPr/>
        </p:nvSpPr>
        <p:spPr>
          <a:xfrm>
            <a:off x="6477012" y="3012387"/>
            <a:ext cx="2691900" cy="1409700"/>
          </a:xfrm>
          <a:prstGeom prst="rect">
            <a:avLst/>
          </a:prstGeom>
          <a:gradFill>
            <a:gsLst>
              <a:gs pos="0">
                <a:srgbClr val="CFE2F3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171725" y="2829800"/>
            <a:ext cx="2067000" cy="1291500"/>
          </a:xfrm>
          <a:prstGeom prst="wedgeRoundRectCallout">
            <a:avLst>
              <a:gd fmla="val -7043" name="adj1"/>
              <a:gd fmla="val -77501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14" title="Capture d’écran 2025-04-06 à 12.12.31 PM.png"/>
          <p:cNvPicPr preferRelativeResize="0"/>
          <p:nvPr/>
        </p:nvPicPr>
        <p:blipFill rotWithShape="1">
          <a:blip r:embed="rId3">
            <a:alphaModFix/>
          </a:blip>
          <a:srcRect b="59388" l="0" r="0" t="0"/>
          <a:stretch/>
        </p:blipFill>
        <p:spPr>
          <a:xfrm>
            <a:off x="126750" y="62675"/>
            <a:ext cx="4715976" cy="1575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9125" y="62675"/>
            <a:ext cx="3497674" cy="235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4" title="Capture d’écran 2025-04-06 à 12.12.31 PM.png"/>
          <p:cNvPicPr preferRelativeResize="0"/>
          <p:nvPr/>
        </p:nvPicPr>
        <p:blipFill rotWithShape="1">
          <a:blip r:embed="rId3">
            <a:alphaModFix/>
          </a:blip>
          <a:srcRect b="23785" l="0" r="0" t="59178"/>
          <a:stretch/>
        </p:blipFill>
        <p:spPr>
          <a:xfrm>
            <a:off x="126750" y="1701862"/>
            <a:ext cx="4315959" cy="60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/>
          <p:nvPr/>
        </p:nvSpPr>
        <p:spPr>
          <a:xfrm>
            <a:off x="126750" y="1445396"/>
            <a:ext cx="2533800" cy="150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3879141" y="1934137"/>
            <a:ext cx="513900" cy="8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1777061" y="2022842"/>
            <a:ext cx="513900" cy="8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3877991" y="2126716"/>
            <a:ext cx="516300" cy="8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14" title="Capture d’écran 2025-04-06 à 12.32.18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4525" y="2636387"/>
            <a:ext cx="3942474" cy="21382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14"/>
          <p:cNvCxnSpPr/>
          <p:nvPr/>
        </p:nvCxnSpPr>
        <p:spPr>
          <a:xfrm>
            <a:off x="3417025" y="2163600"/>
            <a:ext cx="750900" cy="33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14"/>
          <p:cNvCxnSpPr/>
          <p:nvPr/>
        </p:nvCxnSpPr>
        <p:spPr>
          <a:xfrm flipH="1">
            <a:off x="4622925" y="2022925"/>
            <a:ext cx="391200" cy="4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14"/>
          <p:cNvSpPr txBox="1"/>
          <p:nvPr/>
        </p:nvSpPr>
        <p:spPr>
          <a:xfrm>
            <a:off x="6607200" y="2935875"/>
            <a:ext cx="2431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EB Garamond"/>
                <a:ea typeface="EB Garamond"/>
                <a:cs typeface="EB Garamond"/>
                <a:sym typeface="EB Garamond"/>
              </a:rPr>
              <a:t>A</a:t>
            </a:r>
            <a:r>
              <a:rPr lang="en" sz="1100"/>
              <a:t>verage labor force, </a:t>
            </a:r>
            <a:r>
              <a:rPr lang="en" sz="1100"/>
              <a:t>employment</a:t>
            </a:r>
            <a:r>
              <a:rPr lang="en" sz="1100"/>
              <a:t> and unemployment rates help firms to see: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Pools of labor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Economic growth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=&gt; Tailored to firm’s conditions and needs (startup, budget-conscious,..)</a:t>
            </a:r>
            <a:endParaRPr sz="1100"/>
          </a:p>
        </p:txBody>
      </p:sp>
      <p:sp>
        <p:nvSpPr>
          <p:cNvPr id="304" name="Google Shape;304;p14"/>
          <p:cNvSpPr txBox="1"/>
          <p:nvPr/>
        </p:nvSpPr>
        <p:spPr>
          <a:xfrm>
            <a:off x="177625" y="2787425"/>
            <a:ext cx="2067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Chi-test: </a:t>
            </a:r>
            <a:r>
              <a:rPr b="1" lang="en" sz="1600">
                <a:solidFill>
                  <a:schemeClr val="dk1"/>
                </a:solidFill>
              </a:rPr>
              <a:t>Proven correlation </a:t>
            </a:r>
            <a:r>
              <a:rPr lang="en" sz="1600">
                <a:solidFill>
                  <a:schemeClr val="dk1"/>
                </a:solidFill>
              </a:rPr>
              <a:t>between cluster type and the two sectors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05" name="Google Shape;305;p14"/>
          <p:cNvSpPr txBox="1"/>
          <p:nvPr/>
        </p:nvSpPr>
        <p:spPr>
          <a:xfrm>
            <a:off x="59825" y="4121300"/>
            <a:ext cx="316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WHERE TO MOVE 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"/>
          <p:cNvSpPr/>
          <p:nvPr/>
        </p:nvSpPr>
        <p:spPr>
          <a:xfrm>
            <a:off x="6739676" y="1140669"/>
            <a:ext cx="1978800" cy="1492800"/>
          </a:xfrm>
          <a:prstGeom prst="wedgeRoundRectCallout">
            <a:avLst>
              <a:gd fmla="val -100543" name="adj1"/>
              <a:gd fmla="val 63279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5810187" y="3555024"/>
            <a:ext cx="2691900" cy="1409700"/>
          </a:xfrm>
          <a:prstGeom prst="rect">
            <a:avLst/>
          </a:prstGeom>
          <a:gradFill>
            <a:gsLst>
              <a:gs pos="0">
                <a:srgbClr val="CFE2F3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5920178" y="3541647"/>
            <a:ext cx="43977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H0</a:t>
            </a:r>
            <a:r>
              <a:rPr lang="en" sz="1600">
                <a:solidFill>
                  <a:schemeClr val="dk2"/>
                </a:solidFill>
              </a:rPr>
              <a:t>: (μ1​+μ4)/2 ​= (μ2​+μ3​)/2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HA</a:t>
            </a:r>
            <a:r>
              <a:rPr lang="en" sz="1600">
                <a:solidFill>
                  <a:schemeClr val="dk2"/>
                </a:solidFill>
              </a:rPr>
              <a:t>: (μ1​+μ4)/2 ​≠ (μ2​+μ3​)/2​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t-value = 2.1658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p_value = </a:t>
            </a:r>
            <a:r>
              <a:rPr b="1" lang="en" sz="1600">
                <a:solidFill>
                  <a:schemeClr val="dk2"/>
                </a:solidFill>
              </a:rPr>
              <a:t>0.0397</a:t>
            </a:r>
            <a:r>
              <a:rPr lang="en" sz="1600">
                <a:solidFill>
                  <a:schemeClr val="dk2"/>
                </a:solidFill>
              </a:rPr>
              <a:t> &lt; 0.005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→ moderate evidence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313" name="Google Shape;313;p15" title="Capture d’écran 2025-04-06 à 10.22.27 AM.png"/>
          <p:cNvPicPr preferRelativeResize="0"/>
          <p:nvPr/>
        </p:nvPicPr>
        <p:blipFill rotWithShape="1">
          <a:blip r:embed="rId3">
            <a:alphaModFix/>
          </a:blip>
          <a:srcRect b="46270" l="94173" r="0" t="37737"/>
          <a:stretch/>
        </p:blipFill>
        <p:spPr>
          <a:xfrm>
            <a:off x="5322069" y="948391"/>
            <a:ext cx="762112" cy="132355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5"/>
          <p:cNvSpPr txBox="1"/>
          <p:nvPr/>
        </p:nvSpPr>
        <p:spPr>
          <a:xfrm rot="-2503216">
            <a:off x="523236" y="3476837"/>
            <a:ext cx="1761247" cy="2013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New York, NY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15" name="Google Shape;315;p15"/>
          <p:cNvSpPr txBox="1"/>
          <p:nvPr/>
        </p:nvSpPr>
        <p:spPr>
          <a:xfrm rot="-2503966">
            <a:off x="1211368" y="3694711"/>
            <a:ext cx="1064512" cy="2013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San Francisco, CA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316" name="Google Shape;316;p15" title="Capture d’écran 2025-04-06 à 10.22.27 AM.png"/>
          <p:cNvPicPr preferRelativeResize="0"/>
          <p:nvPr/>
        </p:nvPicPr>
        <p:blipFill rotWithShape="1">
          <a:blip r:embed="rId3">
            <a:alphaModFix/>
          </a:blip>
          <a:srcRect b="16204" l="67612" r="21171" t="4406"/>
          <a:stretch/>
        </p:blipFill>
        <p:spPr>
          <a:xfrm>
            <a:off x="1537248" y="1001622"/>
            <a:ext cx="589978" cy="263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5" title="Capture d’écran 2025-04-06 à 10.22.27 AM.png"/>
          <p:cNvPicPr preferRelativeResize="0"/>
          <p:nvPr/>
        </p:nvPicPr>
        <p:blipFill rotWithShape="1">
          <a:blip r:embed="rId3">
            <a:alphaModFix/>
          </a:blip>
          <a:srcRect b="16204" l="42579" r="44859" t="4406"/>
          <a:stretch/>
        </p:blipFill>
        <p:spPr>
          <a:xfrm>
            <a:off x="883870" y="1001622"/>
            <a:ext cx="660803" cy="263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5" title="Capture d’écran 2025-04-06 à 10.22.27 AM.png"/>
          <p:cNvPicPr preferRelativeResize="0"/>
          <p:nvPr/>
        </p:nvPicPr>
        <p:blipFill rotWithShape="1">
          <a:blip r:embed="rId3">
            <a:alphaModFix/>
          </a:blip>
          <a:srcRect b="16204" l="5410" r="69140" t="4406"/>
          <a:stretch/>
        </p:blipFill>
        <p:spPr>
          <a:xfrm>
            <a:off x="2127237" y="1001612"/>
            <a:ext cx="1338644" cy="263352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 txBox="1"/>
          <p:nvPr/>
        </p:nvSpPr>
        <p:spPr>
          <a:xfrm rot="-2503216">
            <a:off x="1970071" y="3292711"/>
            <a:ext cx="1761247" cy="2013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Austin, TX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20" name="Google Shape;320;p15"/>
          <p:cNvSpPr txBox="1"/>
          <p:nvPr/>
        </p:nvSpPr>
        <p:spPr>
          <a:xfrm rot="-2503216">
            <a:off x="2492296" y="3400115"/>
            <a:ext cx="1761247" cy="2013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Houston. TX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21" name="Google Shape;321;p15"/>
          <p:cNvSpPr txBox="1"/>
          <p:nvPr/>
        </p:nvSpPr>
        <p:spPr>
          <a:xfrm rot="-2503216">
            <a:off x="2902083" y="3525884"/>
            <a:ext cx="1761247" cy="2013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The Woodlands,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TX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322" name="Google Shape;322;p15" title="Capture d’écran 2025-04-06 à 10.22.27 AM.png"/>
          <p:cNvPicPr preferRelativeResize="0"/>
          <p:nvPr/>
        </p:nvPicPr>
        <p:blipFill rotWithShape="1">
          <a:blip r:embed="rId3">
            <a:alphaModFix/>
          </a:blip>
          <a:srcRect b="16204" l="79988" r="8199" t="4406"/>
          <a:stretch/>
        </p:blipFill>
        <p:spPr>
          <a:xfrm>
            <a:off x="3426426" y="1001612"/>
            <a:ext cx="621343" cy="2633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5"/>
          <p:cNvSpPr txBox="1"/>
          <p:nvPr/>
        </p:nvSpPr>
        <p:spPr>
          <a:xfrm rot="-2503216">
            <a:off x="3586524" y="3537320"/>
            <a:ext cx="1761247" cy="2013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Los Angeles, CA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24" name="Google Shape;324;p15"/>
          <p:cNvSpPr txBox="1"/>
          <p:nvPr/>
        </p:nvSpPr>
        <p:spPr>
          <a:xfrm rot="-2503216">
            <a:off x="4316110" y="3400128"/>
            <a:ext cx="1761247" cy="2013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Philadelphia,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PA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325" name="Google Shape;325;p15" title="Capture d’écran 2025-04-06 à 10.22.27 AM.png"/>
          <p:cNvPicPr preferRelativeResize="0"/>
          <p:nvPr/>
        </p:nvPicPr>
        <p:blipFill rotWithShape="1">
          <a:blip r:embed="rId3">
            <a:alphaModFix/>
          </a:blip>
          <a:srcRect b="16204" l="30016" r="57422" t="4406"/>
          <a:stretch/>
        </p:blipFill>
        <p:spPr>
          <a:xfrm>
            <a:off x="4063579" y="1001612"/>
            <a:ext cx="660803" cy="263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5" title="Capture d’écran 2025-04-06 à 10.22.27 AM.png"/>
          <p:cNvPicPr preferRelativeResize="0"/>
          <p:nvPr/>
        </p:nvPicPr>
        <p:blipFill rotWithShape="1">
          <a:blip r:embed="rId3">
            <a:alphaModFix/>
          </a:blip>
          <a:srcRect b="16204" l="54864" r="32574" t="4406"/>
          <a:stretch/>
        </p:blipFill>
        <p:spPr>
          <a:xfrm>
            <a:off x="4697656" y="1001612"/>
            <a:ext cx="660803" cy="2633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5"/>
          <p:cNvSpPr txBox="1"/>
          <p:nvPr/>
        </p:nvSpPr>
        <p:spPr>
          <a:xfrm>
            <a:off x="559600" y="2541986"/>
            <a:ext cx="458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0.2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630984" y="3385087"/>
            <a:ext cx="223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0.0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597734" y="1648869"/>
            <a:ext cx="458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0.4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726226" y="678975"/>
            <a:ext cx="501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Average Occupancy Proportion Per Quarter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883868" y="4663913"/>
            <a:ext cx="535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55CC"/>
                </a:solidFill>
              </a:rPr>
              <a:t>Hot Spot</a:t>
            </a:r>
            <a:endParaRPr b="1" sz="1800">
              <a:solidFill>
                <a:srgbClr val="1155CC"/>
              </a:solidFill>
            </a:endParaRPr>
          </a:p>
        </p:txBody>
      </p:sp>
      <p:cxnSp>
        <p:nvCxnSpPr>
          <p:cNvPr id="332" name="Google Shape;332;p15"/>
          <p:cNvCxnSpPr/>
          <p:nvPr/>
        </p:nvCxnSpPr>
        <p:spPr>
          <a:xfrm>
            <a:off x="984944" y="4135186"/>
            <a:ext cx="178500" cy="60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15"/>
          <p:cNvCxnSpPr/>
          <p:nvPr/>
        </p:nvCxnSpPr>
        <p:spPr>
          <a:xfrm flipH="1">
            <a:off x="1245623" y="4312178"/>
            <a:ext cx="222000" cy="4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15"/>
          <p:cNvSpPr txBox="1"/>
          <p:nvPr/>
        </p:nvSpPr>
        <p:spPr>
          <a:xfrm>
            <a:off x="2391214" y="4663913"/>
            <a:ext cx="269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55CC"/>
                </a:solidFill>
              </a:rPr>
              <a:t>Value Cluster</a:t>
            </a:r>
            <a:endParaRPr/>
          </a:p>
        </p:txBody>
      </p:sp>
      <p:cxnSp>
        <p:nvCxnSpPr>
          <p:cNvPr id="335" name="Google Shape;335;p15"/>
          <p:cNvCxnSpPr/>
          <p:nvPr/>
        </p:nvCxnSpPr>
        <p:spPr>
          <a:xfrm>
            <a:off x="2440294" y="3985990"/>
            <a:ext cx="32880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15"/>
          <p:cNvCxnSpPr/>
          <p:nvPr/>
        </p:nvCxnSpPr>
        <p:spPr>
          <a:xfrm flipH="1">
            <a:off x="2901206" y="4087089"/>
            <a:ext cx="34800" cy="6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15"/>
          <p:cNvCxnSpPr/>
          <p:nvPr/>
        </p:nvCxnSpPr>
        <p:spPr>
          <a:xfrm flipH="1">
            <a:off x="2981700" y="4326257"/>
            <a:ext cx="225300" cy="3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15"/>
          <p:cNvSpPr txBox="1"/>
          <p:nvPr/>
        </p:nvSpPr>
        <p:spPr>
          <a:xfrm>
            <a:off x="4047774" y="4663913"/>
            <a:ext cx="269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55CC"/>
                </a:solidFill>
              </a:rPr>
              <a:t>Distressed</a:t>
            </a:r>
            <a:endParaRPr/>
          </a:p>
        </p:txBody>
      </p:sp>
      <p:cxnSp>
        <p:nvCxnSpPr>
          <p:cNvPr id="339" name="Google Shape;339;p15"/>
          <p:cNvCxnSpPr/>
          <p:nvPr/>
        </p:nvCxnSpPr>
        <p:spPr>
          <a:xfrm>
            <a:off x="4096383" y="4199633"/>
            <a:ext cx="187500" cy="4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p15"/>
          <p:cNvCxnSpPr/>
          <p:nvPr/>
        </p:nvCxnSpPr>
        <p:spPr>
          <a:xfrm flipH="1">
            <a:off x="4444118" y="4129305"/>
            <a:ext cx="263700" cy="5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" name="Google Shape;341;p15"/>
          <p:cNvSpPr txBox="1"/>
          <p:nvPr/>
        </p:nvSpPr>
        <p:spPr>
          <a:xfrm>
            <a:off x="6336742" y="5058920"/>
            <a:ext cx="183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6835349" y="1332975"/>
            <a:ext cx="197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Lower occupancy proportions were often observed in Q2 and Q3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6786711" y="2795737"/>
            <a:ext cx="178500" cy="499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339125" y="166775"/>
            <a:ext cx="614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WHEN TO MOVE IN</a:t>
            </a:r>
            <a:endParaRPr b="1" sz="2700">
              <a:solidFill>
                <a:srgbClr val="38761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