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1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327" r:id="rId2"/>
    <p:sldId id="340" r:id="rId3"/>
    <p:sldId id="331" r:id="rId4"/>
    <p:sldId id="332" r:id="rId5"/>
    <p:sldId id="333" r:id="rId6"/>
    <p:sldId id="334" r:id="rId7"/>
    <p:sldId id="328" r:id="rId8"/>
    <p:sldId id="335" r:id="rId9"/>
    <p:sldId id="336" r:id="rId10"/>
    <p:sldId id="337" r:id="rId11"/>
    <p:sldId id="338" r:id="rId12"/>
    <p:sldId id="339" r:id="rId13"/>
    <p:sldId id="341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3" d="100"/>
          <a:sy n="73" d="100"/>
        </p:scale>
        <p:origin x="82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Do not remove" hidden="1">
            <a:extLst>
              <a:ext uri="{FF2B5EF4-FFF2-40B4-BE49-F238E27FC236}">
                <a16:creationId xmlns:a16="http://schemas.microsoft.com/office/drawing/2014/main" id="{A1F78D2A-96F0-6F25-AA7C-CB956FE2212A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700" cy="12700"/>
          </a:xfrm>
          <a:prstGeom prst="octagon">
            <a:avLst/>
          </a:prstGeom>
          <a:noFill/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gradFill rotWithShape="1">
                  <a:gsLst>
                    <a:gs pos="0">
                      <a:schemeClr val="accent1">
                        <a:tint val="100000"/>
                        <a:shade val="100000"/>
                        <a:satMod val="130000"/>
                      </a:schemeClr>
                    </a:gs>
                    <a:gs pos="100000">
                      <a:schemeClr val="accent1">
                        <a:tint val="50000"/>
                        <a:shade val="100000"/>
                        <a:satMod val="350000"/>
                      </a:schemeClr>
                    </a:gs>
                  </a:gsLst>
                  <a:lin ang="16200000" scaled="0"/>
                </a:gradFill>
              </a14:hiddenFill>
            </a:ex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</a:pPr>
            <a:r>
              <a:rPr sz="1100" b="1" i="0" dirty="0">
                <a:solidFill>
                  <a:srgbClr val="EDF2F8"/>
                </a:solidFill>
                <a:latin typeface="Arial"/>
              </a:rPr>
              <a:t>KPIM · CUSTOMER ANALYTICS</a:t>
            </a:r>
            <a:endParaRPr lang="en-US" sz="1100" b="1" i="0" dirty="0">
              <a:solidFill>
                <a:srgbClr val="EDF2F8"/>
              </a:solidFill>
              <a:latin typeface="Arial"/>
            </a:endParaRPr>
          </a:p>
          <a:p>
            <a:pPr algn="l">
              <a:lnSpc>
                <a:spcPct val="115000"/>
              </a:lnSpc>
            </a:pPr>
            <a:r>
              <a:rPr lang="en-US" sz="1100" b="1" dirty="0">
                <a:solidFill>
                  <a:srgbClr val="EDF2F8"/>
                </a:solidFill>
                <a:latin typeface="Arial"/>
              </a:rPr>
              <a:t>AUTHOR: LINH NGUYEN</a:t>
            </a:r>
            <a:endParaRPr sz="1100" b="1" i="0" dirty="0">
              <a:solidFill>
                <a:srgbClr val="EDF2F8"/>
              </a:solidFill>
              <a:latin typeface="Arial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241280" y="320040"/>
            <a:ext cx="13716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DC3E6"/>
                </a:solidFill>
                <a:latin typeface="Consolas"/>
              </a:rPr>
              <a:t>01 /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37360"/>
            <a:ext cx="292608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</a:pPr>
            <a:r>
              <a:rPr sz="1100" b="1" i="0" dirty="0">
                <a:solidFill>
                  <a:srgbClr val="EDF2F8"/>
                </a:solidFill>
                <a:latin typeface="Arial"/>
              </a:rPr>
              <a:t>RFM SEGMENTATION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148840"/>
            <a:ext cx="6745539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</a:pPr>
            <a:r>
              <a:rPr lang="en-US" sz="4000" b="1" i="0" dirty="0" err="1">
                <a:solidFill>
                  <a:srgbClr val="FFFFFF"/>
                </a:solidFill>
                <a:latin typeface="Arial"/>
              </a:rPr>
              <a:t>Winmart</a:t>
            </a:r>
            <a:r>
              <a:rPr lang="en-US" sz="4000" b="1" i="0" dirty="0">
                <a:solidFill>
                  <a:srgbClr val="FFFFFF"/>
                </a:solidFill>
                <a:latin typeface="Arial"/>
              </a:rPr>
              <a:t> Promotional Analysis Report </a:t>
            </a:r>
            <a:endParaRPr sz="4000" b="1" i="0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977639"/>
            <a:ext cx="7498079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40000"/>
              </a:lnSpc>
            </a:pPr>
            <a:r>
              <a:rPr sz="1500" b="0" i="0" dirty="0">
                <a:solidFill>
                  <a:srgbClr val="D6E4F0"/>
                </a:solidFill>
                <a:latin typeface="Arial"/>
              </a:rPr>
              <a:t>Where to spend promotional budget, based on the RFM Customer Segmentation dashboard, and an honest look at where the dashboard itself still needs work.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5074920"/>
            <a:ext cx="10607040" cy="12700"/>
          </a:xfrm>
          <a:prstGeom prst="rect">
            <a:avLst/>
          </a:prstGeom>
          <a:solidFill>
            <a:srgbClr val="9D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48640" y="5257800"/>
            <a:ext cx="237744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FFFFFF"/>
                </a:solidFill>
                <a:latin typeface="Consolas"/>
              </a:rPr>
              <a:t>18.36K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760720"/>
            <a:ext cx="23774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B4C7DC"/>
                </a:solidFill>
                <a:latin typeface="Arial"/>
              </a:rPr>
              <a:t>Customers scored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54680" y="5257800"/>
            <a:ext cx="237744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FFFFFF"/>
                </a:solidFill>
                <a:latin typeface="Consolas"/>
              </a:rPr>
              <a:t>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54680" y="5760720"/>
            <a:ext cx="23774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B4C7DC"/>
                </a:solidFill>
                <a:latin typeface="Arial"/>
              </a:rPr>
              <a:t>RFM segments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0" y="5257800"/>
            <a:ext cx="237744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FFFFFF"/>
                </a:solidFill>
                <a:latin typeface="Consolas"/>
              </a:rPr>
              <a:t>17.91bn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60720" y="5760720"/>
            <a:ext cx="23774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B4C7DC"/>
                </a:solidFill>
                <a:latin typeface="Arial"/>
              </a:rPr>
              <a:t>Revenue analyzed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5257800"/>
            <a:ext cx="237744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FFFFFF"/>
                </a:solidFill>
                <a:latin typeface="Consolas"/>
              </a:rPr>
              <a:t>2020 to 2022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5760720"/>
            <a:ext cx="23774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B4C7DC"/>
                </a:solidFill>
                <a:latin typeface="Arial"/>
              </a:rPr>
              <a:t>Transaction window</a:t>
            </a:r>
          </a:p>
        </p:txBody>
      </p:sp>
    </p:spTree>
    <p:extLst>
      <p:ext uri="{BB962C8B-B14F-4D97-AF65-F5344CB8AC3E}">
        <p14:creationId xmlns:p14="http://schemas.microsoft.com/office/powerpoint/2010/main" val="26368206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E75B6"/>
                </a:solidFill>
                <a:latin typeface="Arial"/>
              </a:rP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320040"/>
            <a:ext cx="13716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3D5166"/>
                </a:solidFill>
                <a:latin typeface="Consolas"/>
              </a:rPr>
              <a:t>02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1005840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30000"/>
              </a:lnSpc>
            </a:pPr>
            <a:r>
              <a:rPr sz="3000" b="1" i="0" dirty="0">
                <a:solidFill>
                  <a:srgbClr val="0E2A47"/>
                </a:solidFill>
                <a:latin typeface="Arial"/>
              </a:rPr>
              <a:t>Four things worth acting on this quarter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0607040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3D5166"/>
                </a:solidFill>
                <a:latin typeface="Arial"/>
              </a:rPr>
              <a:t>The numbers describe a promotional program that grew by habit rather than design: one discount type, run on an irregular schedule, offered to everyone instead of the segments most likely to respond.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148840"/>
            <a:ext cx="5193792" cy="205740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9525">
            <a:solidFill>
              <a:srgbClr val="ED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04672" y="2331720"/>
            <a:ext cx="18288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2E75B6"/>
                </a:solidFill>
                <a:latin typeface="Consolas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606040"/>
            <a:ext cx="4681728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</a:pPr>
            <a:r>
              <a:rPr sz="1550" b="1" i="0">
                <a:solidFill>
                  <a:srgbClr val="0E2A47"/>
                </a:solidFill>
                <a:latin typeface="Arial"/>
              </a:rPr>
              <a:t>One discount type, offered to everyone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3017520"/>
            <a:ext cx="4681728" cy="1051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3D5166"/>
                </a:solidFill>
                <a:latin typeface="Arial"/>
              </a:rPr>
              <a:t>Nearly every discount in the data is the same quantity-based offer. It works: promo orders average 4.7x the basket size of full-price orders, but it goes to every customer equally, not to the segments that respond most.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61888" y="2148840"/>
            <a:ext cx="5193792" cy="205740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9525">
            <a:solidFill>
              <a:srgbClr val="ED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217920" y="2331720"/>
            <a:ext cx="18288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2E75B6"/>
                </a:solidFill>
                <a:latin typeface="Consola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2606040"/>
            <a:ext cx="4681728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</a:pPr>
            <a:r>
              <a:rPr sz="1550" b="1" i="0">
                <a:solidFill>
                  <a:srgbClr val="0E2A47"/>
                </a:solidFill>
                <a:latin typeface="Arial"/>
              </a:rPr>
              <a:t>23% of revenue sits in at-risk segments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3017520"/>
            <a:ext cx="4681728" cy="1051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3D5166"/>
                </a:solidFill>
                <a:latin typeface="Arial"/>
              </a:rPr>
              <a:t>4,818 customers (26%) are in at-risk segments, holding 4.05bn (23%) of revenue. Cooling-Down customers are the easiest group to win back, and a filter bug means the dashboard currently misses them (p.12).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343400"/>
            <a:ext cx="5193792" cy="205740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9525">
            <a:solidFill>
              <a:srgbClr val="ED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04672" y="4526280"/>
            <a:ext cx="18288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2E75B6"/>
                </a:solidFill>
                <a:latin typeface="Consolas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" y="4800600"/>
            <a:ext cx="4681728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</a:pPr>
            <a:r>
              <a:rPr sz="1550" b="1" i="0">
                <a:solidFill>
                  <a:srgbClr val="0E2A47"/>
                </a:solidFill>
                <a:latin typeface="Arial"/>
              </a:rPr>
              <a:t>Promotions ran in bursts, not on a schedule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5212080"/>
            <a:ext cx="4681728" cy="1051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3D5166"/>
                </a:solidFill>
                <a:latin typeface="Arial"/>
              </a:rPr>
              <a:t>Promo's share of revenue went from 1.1% to 54.3% to 16.1% across three years. Swings that large give customers a reason to wait for the next sale instead of buying steadily.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61888" y="4343400"/>
            <a:ext cx="5193792" cy="205740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9525">
            <a:solidFill>
              <a:srgbClr val="ED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217920" y="4526280"/>
            <a:ext cx="18288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2E75B6"/>
                </a:solidFill>
                <a:latin typeface="Consolas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7920" y="4800600"/>
            <a:ext cx="4681728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</a:pPr>
            <a:r>
              <a:rPr sz="1550" b="1" i="0">
                <a:solidFill>
                  <a:srgbClr val="0E2A47"/>
                </a:solidFill>
                <a:latin typeface="Arial"/>
              </a:rPr>
              <a:t>We measure sales, not profit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0" y="5212080"/>
            <a:ext cx="4681728" cy="1051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3D5166"/>
                </a:solidFill>
                <a:latin typeface="Arial"/>
              </a:rPr>
              <a:t>The model holds discount rates and unit costs, but nothing joins them into a margin view, so a promotion that sold a lot at a loss looks the same as one that made money.</a:t>
            </a:r>
          </a:p>
        </p:txBody>
      </p:sp>
    </p:spTree>
    <p:extLst>
      <p:ext uri="{BB962C8B-B14F-4D97-AF65-F5344CB8AC3E}">
        <p14:creationId xmlns:p14="http://schemas.microsoft.com/office/powerpoint/2010/main" val="33205335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E75B6"/>
                </a:solidFill>
                <a:latin typeface="Arial"/>
              </a:rPr>
              <a:t>THE DASHBOARD, TAB BY TAB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320040"/>
            <a:ext cx="13716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3D5166"/>
                </a:solidFill>
                <a:latin typeface="Consolas"/>
              </a:rPr>
              <a:t>03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82296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0E2A47"/>
                </a:solidFill>
                <a:latin typeface="Arial"/>
              </a:rPr>
              <a:t>Introduction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1060704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3D5166"/>
                </a:solidFill>
                <a:latin typeface="Arial"/>
              </a:rPr>
              <a:t>The dashboard opens by stating its scope: CRM and ERP transaction data through 2022, scored on Recency, Frequency, and Monetary value, with one goal: better CRM and marketing decisions.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28800"/>
            <a:ext cx="7040880" cy="4617720"/>
          </a:xfrm>
          <a:prstGeom prst="roundRect">
            <a:avLst>
              <a:gd name="adj" fmla="val 0"/>
            </a:avLst>
          </a:prstGeom>
          <a:solidFill>
            <a:srgbClr val="0E2A47"/>
          </a:solidFill>
          <a:ln w="9525">
            <a:solidFill>
              <a:srgbClr val="ED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749808" y="1993392"/>
            <a:ext cx="82296" cy="82296"/>
          </a:xfrm>
          <a:prstGeom prst="ellipse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950976" y="1993392"/>
            <a:ext cx="82296" cy="82296"/>
          </a:xfrm>
          <a:prstGeom prst="ellipse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1152144" y="1993392"/>
            <a:ext cx="82296" cy="82296"/>
          </a:xfrm>
          <a:prstGeom prst="ellipse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Int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2212848"/>
            <a:ext cx="6784848" cy="378257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818120" y="1828800"/>
            <a:ext cx="3822191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E75B6"/>
                </a:solidFill>
                <a:latin typeface="Arial"/>
              </a:rPr>
              <a:t>WHAT'S ON THIS TAB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18120" y="2286000"/>
            <a:ext cx="54864" cy="822960"/>
          </a:xfrm>
          <a:prstGeom prst="roundRect">
            <a:avLst>
              <a:gd name="adj" fmla="val 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019288" y="2286000"/>
            <a:ext cx="3621023" cy="9601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0E2A47"/>
                </a:solidFill>
                <a:latin typeface="Arial"/>
              </a:rPr>
              <a:t>Source line: </a:t>
            </a:r>
            <a:r>
              <a:rPr sz="1100" b="0" i="0">
                <a:solidFill>
                  <a:srgbClr val="3D5166"/>
                </a:solidFill>
                <a:latin typeface="Arial"/>
              </a:rPr>
              <a:t>KPIM/KM2 CRM &amp; ERP systems, transactional data through 2022.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18120" y="3291840"/>
            <a:ext cx="54864" cy="822960"/>
          </a:xfrm>
          <a:prstGeom prst="roundRect">
            <a:avLst>
              <a:gd name="adj" fmla="val 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019288" y="3291840"/>
            <a:ext cx="3621023" cy="9601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0E2A47"/>
                </a:solidFill>
                <a:latin typeface="Arial"/>
              </a:rPr>
              <a:t>Stated method: </a:t>
            </a:r>
            <a:r>
              <a:rPr sz="1100" b="0" i="0">
                <a:solidFill>
                  <a:srgbClr val="3D5166"/>
                </a:solidFill>
                <a:latin typeface="Arial"/>
              </a:rPr>
              <a:t>RFM Analysis (Recency, Frequency, Monetary), the same scoring this playbook builds 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818120" y="4297680"/>
            <a:ext cx="54864" cy="822960"/>
          </a:xfrm>
          <a:prstGeom prst="roundRect">
            <a:avLst>
              <a:gd name="adj" fmla="val 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019288" y="4297680"/>
            <a:ext cx="3621023" cy="9601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0E2A47"/>
                </a:solidFill>
                <a:latin typeface="Arial"/>
              </a:rPr>
              <a:t>Navigation: </a:t>
            </a:r>
            <a:r>
              <a:rPr sz="1100" b="0" i="0">
                <a:solidFill>
                  <a:srgbClr val="3D5166"/>
                </a:solidFill>
                <a:latin typeface="Arial"/>
              </a:rPr>
              <a:t>four working tabs, Introduction, Overview, Customer Profile, Behavioral &amp; Diagnostic.</a:t>
            </a:r>
          </a:p>
        </p:txBody>
      </p:sp>
    </p:spTree>
    <p:extLst>
      <p:ext uri="{BB962C8B-B14F-4D97-AF65-F5344CB8AC3E}">
        <p14:creationId xmlns:p14="http://schemas.microsoft.com/office/powerpoint/2010/main" val="35305334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E75B6"/>
                </a:solidFill>
                <a:latin typeface="Arial"/>
              </a:rPr>
              <a:t>THE DASHBOARD, TAB BY TAB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320040"/>
            <a:ext cx="13716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3D5166"/>
                </a:solidFill>
                <a:latin typeface="Consolas"/>
              </a:rPr>
              <a:t>04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82296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0E2A47"/>
                </a:solidFill>
                <a:latin typeface="Arial"/>
              </a:rPr>
              <a:t>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1060704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3D5166"/>
                </a:solidFill>
                <a:latin typeface="Arial"/>
              </a:rPr>
              <a:t>The company at a glance: customer base size, average RFM scores, segment mix, and a three-year revenue trend.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28800"/>
            <a:ext cx="7040880" cy="4617720"/>
          </a:xfrm>
          <a:prstGeom prst="roundRect">
            <a:avLst>
              <a:gd name="adj" fmla="val 0"/>
            </a:avLst>
          </a:prstGeom>
          <a:solidFill>
            <a:srgbClr val="0E2A47"/>
          </a:solidFill>
          <a:ln w="9525">
            <a:solidFill>
              <a:srgbClr val="ED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749808" y="1993392"/>
            <a:ext cx="82296" cy="82296"/>
          </a:xfrm>
          <a:prstGeom prst="ellipse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950976" y="1993392"/>
            <a:ext cx="82296" cy="82296"/>
          </a:xfrm>
          <a:prstGeom prst="ellipse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1152144" y="1993392"/>
            <a:ext cx="82296" cy="82296"/>
          </a:xfrm>
          <a:prstGeom prst="ellipse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2212848"/>
            <a:ext cx="6784848" cy="382735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818120" y="1828800"/>
            <a:ext cx="3822191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E75B6"/>
                </a:solidFill>
                <a:latin typeface="Arial"/>
              </a:rPr>
              <a:t>READING IT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18120" y="2286000"/>
            <a:ext cx="54864" cy="822960"/>
          </a:xfrm>
          <a:prstGeom prst="roundRect">
            <a:avLst>
              <a:gd name="adj" fmla="val 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019288" y="2286000"/>
            <a:ext cx="3621023" cy="9601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0E2A47"/>
                </a:solidFill>
                <a:latin typeface="Arial"/>
              </a:rPr>
              <a:t>18.36K customers, 17.91bn revenue, 8 segments, </a:t>
            </a:r>
            <a:r>
              <a:rPr sz="1100" b="0" i="0">
                <a:solidFill>
                  <a:srgbClr val="3D5166"/>
                </a:solidFill>
                <a:latin typeface="Arial"/>
              </a:rPr>
              <a:t>the totals every other tab drills into.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18120" y="3291840"/>
            <a:ext cx="54864" cy="822960"/>
          </a:xfrm>
          <a:prstGeom prst="roundRect">
            <a:avLst>
              <a:gd name="adj" fmla="val 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019288" y="3291840"/>
            <a:ext cx="3621023" cy="9601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0E2A47"/>
                </a:solidFill>
                <a:latin typeface="Arial"/>
              </a:rPr>
              <a:t>The revenue trend </a:t>
            </a:r>
            <a:r>
              <a:rPr sz="1100" b="0" i="0">
                <a:solidFill>
                  <a:srgbClr val="3D5166"/>
                </a:solidFill>
                <a:latin typeface="Arial"/>
              </a:rPr>
              <a:t>shows a mid-2021 spike that lines up with that year's promotional surge (p.02).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818120" y="4297680"/>
            <a:ext cx="54864" cy="822960"/>
          </a:xfrm>
          <a:prstGeom prst="roundRect">
            <a:avLst>
              <a:gd name="adj" fmla="val 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019288" y="4297680"/>
            <a:ext cx="3621023" cy="9601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0E2A47"/>
                </a:solidFill>
                <a:latin typeface="Arial"/>
              </a:rPr>
              <a:t>Average Recency (100 days) </a:t>
            </a:r>
            <a:r>
              <a:rPr sz="1100" b="0" i="0">
                <a:solidFill>
                  <a:srgbClr val="3D5166"/>
                </a:solidFill>
                <a:latin typeface="Arial"/>
              </a:rPr>
              <a:t>mixes very different segments into one number, and p.12 explains why that misleads.</a:t>
            </a:r>
          </a:p>
        </p:txBody>
      </p:sp>
    </p:spTree>
    <p:extLst>
      <p:ext uri="{BB962C8B-B14F-4D97-AF65-F5344CB8AC3E}">
        <p14:creationId xmlns:p14="http://schemas.microsoft.com/office/powerpoint/2010/main" val="7474228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E75B6"/>
                </a:solidFill>
                <a:latin typeface="Arial"/>
              </a:rPr>
              <a:t>THE DASHBOARD, TAB BY TAB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320040"/>
            <a:ext cx="13716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3D5166"/>
                </a:solidFill>
                <a:latin typeface="Consolas"/>
              </a:rPr>
              <a:t>05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82296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0E2A47"/>
                </a:solidFill>
                <a:latin typeface="Arial"/>
              </a:rPr>
              <a:t>Customer Profile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1060704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3D5166"/>
                </a:solidFill>
                <a:latin typeface="Arial"/>
              </a:rPr>
              <a:t>Demographics broken out by segment: loyalty tier, gender, age, income, education, and occupation, so a promotion can match who is actually in each segment, not just how they scored.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28800"/>
            <a:ext cx="7040880" cy="4617720"/>
          </a:xfrm>
          <a:prstGeom prst="roundRect">
            <a:avLst>
              <a:gd name="adj" fmla="val 0"/>
            </a:avLst>
          </a:prstGeom>
          <a:solidFill>
            <a:srgbClr val="0E2A47"/>
          </a:solidFill>
          <a:ln w="9525">
            <a:solidFill>
              <a:srgbClr val="ED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749808" y="1993392"/>
            <a:ext cx="82296" cy="82296"/>
          </a:xfrm>
          <a:prstGeom prst="ellipse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950976" y="1993392"/>
            <a:ext cx="82296" cy="82296"/>
          </a:xfrm>
          <a:prstGeom prst="ellipse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1152144" y="1993392"/>
            <a:ext cx="82296" cy="82296"/>
          </a:xfrm>
          <a:prstGeom prst="ellipse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Custom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2212848"/>
            <a:ext cx="6784848" cy="381492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818120" y="1828800"/>
            <a:ext cx="3822191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E75B6"/>
                </a:solidFill>
                <a:latin typeface="Arial"/>
              </a:rPr>
              <a:t>READING IT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18120" y="2286000"/>
            <a:ext cx="54864" cy="822960"/>
          </a:xfrm>
          <a:prstGeom prst="roundRect">
            <a:avLst>
              <a:gd name="adj" fmla="val 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019288" y="2286000"/>
            <a:ext cx="3621023" cy="9601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0E2A47"/>
                </a:solidFill>
                <a:latin typeface="Arial"/>
              </a:rPr>
              <a:t>Loyalty-tier crosstab </a:t>
            </a:r>
            <a:r>
              <a:rPr sz="1100" b="0" i="0">
                <a:solidFill>
                  <a:srgbClr val="3D5166"/>
                </a:solidFill>
                <a:latin typeface="Arial"/>
              </a:rPr>
              <a:t>shows almost no one above Silver, Gold and Platinum rows are single digits.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18120" y="3291840"/>
            <a:ext cx="54864" cy="822960"/>
          </a:xfrm>
          <a:prstGeom prst="roundRect">
            <a:avLst>
              <a:gd name="adj" fmla="val 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019288" y="3291840"/>
            <a:ext cx="3621023" cy="9601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0E2A47"/>
                </a:solidFill>
                <a:latin typeface="Arial"/>
              </a:rPr>
              <a:t>The left "Occupation Distribution" matrix is mislabeled: it's actually</a:t>
            </a:r>
            <a:r>
              <a:rPr sz="1100" b="0" i="0">
                <a:solidFill>
                  <a:srgbClr val="3D5166"/>
                </a:solidFill>
                <a:latin typeface="Arial"/>
              </a:rPr>
              <a:t> education level (p.12).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818120" y="4297680"/>
            <a:ext cx="54864" cy="822960"/>
          </a:xfrm>
          <a:prstGeom prst="roundRect">
            <a:avLst>
              <a:gd name="adj" fmla="val 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019288" y="4297680"/>
            <a:ext cx="3621023" cy="9601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0E2A47"/>
                </a:solidFill>
                <a:latin typeface="Arial"/>
              </a:rPr>
              <a:t>Gender and Age bars </a:t>
            </a:r>
            <a:r>
              <a:rPr sz="1100" b="0" i="0">
                <a:solidFill>
                  <a:srgbClr val="3D5166"/>
                </a:solidFill>
                <a:latin typeface="Arial"/>
              </a:rPr>
              <a:t>only show 5 of 8 segments before scrolling, also flagged on p.12.</a:t>
            </a:r>
          </a:p>
        </p:txBody>
      </p:sp>
    </p:spTree>
    <p:extLst>
      <p:ext uri="{BB962C8B-B14F-4D97-AF65-F5344CB8AC3E}">
        <p14:creationId xmlns:p14="http://schemas.microsoft.com/office/powerpoint/2010/main" val="23370022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E75B6"/>
                </a:solidFill>
                <a:latin typeface="Arial"/>
              </a:rPr>
              <a:t>THE DASHBOARD, TAB BY TAB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320040"/>
            <a:ext cx="13716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3D5166"/>
                </a:solidFill>
                <a:latin typeface="Consolas"/>
              </a:rPr>
              <a:t>06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82296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0E2A47"/>
                </a:solidFill>
                <a:latin typeface="Arial"/>
              </a:rPr>
              <a:t>Behavioral &amp; Diagnostic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1060704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3D5166"/>
                </a:solidFill>
                <a:latin typeface="Arial"/>
              </a:rPr>
              <a:t>The tab most relevant to promotions: discount usage by segment, promo vs. full-price revenue over time, promotion effectiveness, and the churn-risk cards this deck corrects on p.12.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28800"/>
            <a:ext cx="7040880" cy="4617720"/>
          </a:xfrm>
          <a:prstGeom prst="roundRect">
            <a:avLst>
              <a:gd name="adj" fmla="val 0"/>
            </a:avLst>
          </a:prstGeom>
          <a:solidFill>
            <a:srgbClr val="0E2A47"/>
          </a:solidFill>
          <a:ln w="9525">
            <a:solidFill>
              <a:srgbClr val="ED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749808" y="1993392"/>
            <a:ext cx="82296" cy="82296"/>
          </a:xfrm>
          <a:prstGeom prst="ellipse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950976" y="1993392"/>
            <a:ext cx="82296" cy="82296"/>
          </a:xfrm>
          <a:prstGeom prst="ellipse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1152144" y="1993392"/>
            <a:ext cx="82296" cy="82296"/>
          </a:xfrm>
          <a:prstGeom prst="ellipse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Diagnost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2212848"/>
            <a:ext cx="6784848" cy="377968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818120" y="1828800"/>
            <a:ext cx="3822191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E75B6"/>
                </a:solidFill>
                <a:latin typeface="Arial"/>
              </a:rPr>
              <a:t>READING IT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18120" y="2286000"/>
            <a:ext cx="54864" cy="822960"/>
          </a:xfrm>
          <a:prstGeom prst="roundRect">
            <a:avLst>
              <a:gd name="adj" fmla="val 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019288" y="2286000"/>
            <a:ext cx="3621023" cy="9601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0E2A47"/>
                </a:solidFill>
                <a:latin typeface="Arial"/>
              </a:rPr>
              <a:t>"Top Promotions by Order Volume" </a:t>
            </a:r>
            <a:r>
              <a:rPr sz="1100" b="0" i="0">
                <a:solidFill>
                  <a:srgbClr val="3D5166"/>
                </a:solidFill>
                <a:latin typeface="Arial"/>
              </a:rPr>
              <a:t>is almost entirely one bar: the shallow, 2%-off quantity tier.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18120" y="3291840"/>
            <a:ext cx="54864" cy="822960"/>
          </a:xfrm>
          <a:prstGeom prst="roundRect">
            <a:avLst>
              <a:gd name="adj" fmla="val 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019288" y="3291840"/>
            <a:ext cx="3621023" cy="9601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0E2A47"/>
                </a:solidFill>
                <a:latin typeface="Arial"/>
              </a:rPr>
              <a:t>"Customers at Churn Risk: 3.65K" / "Revenue at Churn Risk: 2.69bn" </a:t>
            </a:r>
            <a:r>
              <a:rPr sz="1100" b="0" i="0">
                <a:solidFill>
                  <a:srgbClr val="3D5166"/>
                </a:solidFill>
                <a:latin typeface="Arial"/>
              </a:rPr>
              <a:t>are both undercounts. See p.12.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818120" y="4297680"/>
            <a:ext cx="54864" cy="822960"/>
          </a:xfrm>
          <a:prstGeom prst="roundRect">
            <a:avLst>
              <a:gd name="adj" fmla="val 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019288" y="4297680"/>
            <a:ext cx="3621023" cy="9601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0E2A47"/>
                </a:solidFill>
                <a:latin typeface="Arial"/>
              </a:rPr>
              <a:t>Cooling-Down customers </a:t>
            </a:r>
            <a:r>
              <a:rPr sz="1100" b="0" i="0">
                <a:solidFill>
                  <a:srgbClr val="3D5166"/>
                </a:solidFill>
                <a:latin typeface="Arial"/>
              </a:rPr>
              <a:t>show the highest discount usage rate of any segment on this tab, a sign they respond to price.</a:t>
            </a:r>
          </a:p>
        </p:txBody>
      </p:sp>
    </p:spTree>
    <p:extLst>
      <p:ext uri="{BB962C8B-B14F-4D97-AF65-F5344CB8AC3E}">
        <p14:creationId xmlns:p14="http://schemas.microsoft.com/office/powerpoint/2010/main" val="4632203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48640" y="6172200"/>
            <a:ext cx="11091672" cy="12700"/>
          </a:xfrm>
          <a:prstGeom prst="rect">
            <a:avLst/>
          </a:prstGeom>
          <a:solidFill>
            <a:srgbClr val="9D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0" name="SectionLabel"/>
          <p:cNvSpPr txBox="1"/>
          <p:nvPr/>
        </p:nvSpPr>
        <p:spPr>
          <a:xfrm>
            <a:off x="0" y="2413000"/>
            <a:ext cx="12192000" cy="3810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ctr"/>
            <a:r>
              <a:rPr lang="en-US" sz="1100" b="1" spc="400" dirty="0">
                <a:solidFill>
                  <a:srgbClr val="9DC3E6"/>
                </a:solidFill>
                <a:latin typeface="Arial"/>
              </a:rPr>
              <a:t>THE PLAYBOOK</a:t>
            </a:r>
          </a:p>
        </p:txBody>
      </p:sp>
      <p:sp>
        <p:nvSpPr>
          <p:cNvPr id="901" name="SectionTitle"/>
          <p:cNvSpPr txBox="1"/>
          <p:nvPr/>
        </p:nvSpPr>
        <p:spPr>
          <a:xfrm>
            <a:off x="0" y="2870200"/>
            <a:ext cx="12192000" cy="11430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ctr"/>
            <a:r>
              <a:rPr lang="en-US" sz="5400" b="1" i="0" dirty="0">
                <a:solidFill>
                  <a:srgbClr val="FFFFFF"/>
                </a:solidFill>
                <a:latin typeface="Arial"/>
              </a:rPr>
              <a:t>Recommendations</a:t>
            </a:r>
          </a:p>
        </p:txBody>
      </p:sp>
      <p:sp>
        <p:nvSpPr>
          <p:cNvPr id="902" name="Pagination"/>
          <p:cNvSpPr txBox="1"/>
          <p:nvPr/>
        </p:nvSpPr>
        <p:spPr>
          <a:xfrm>
            <a:off x="10668000" y="381000"/>
            <a:ext cx="1143000" cy="3048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r"/>
            <a:r>
              <a:rPr lang="en-US" sz="1000" b="0" dirty="0">
                <a:solidFill>
                  <a:srgbClr val="9DC3E6"/>
                </a:solidFill>
                <a:latin typeface="Consolas"/>
              </a:rPr>
              <a:t>07 / 13</a:t>
            </a:r>
          </a:p>
        </p:txBody>
      </p:sp>
    </p:spTree>
    <p:extLst>
      <p:ext uri="{BB962C8B-B14F-4D97-AF65-F5344CB8AC3E}">
        <p14:creationId xmlns:p14="http://schemas.microsoft.com/office/powerpoint/2010/main" val="27195459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E75B6"/>
                </a:solidFill>
                <a:latin typeface="Arial"/>
              </a:rPr>
              <a:t>THE SEGMENT 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320040"/>
            <a:ext cx="13716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3D5166"/>
                </a:solidFill>
                <a:latin typeface="Consolas"/>
              </a:rPr>
              <a:t>08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82296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30000"/>
              </a:lnSpc>
            </a:pPr>
            <a:r>
              <a:rPr sz="3200" b="1" i="0" dirty="0">
                <a:solidFill>
                  <a:srgbClr val="0E2A47"/>
                </a:solidFill>
                <a:latin typeface="Arial"/>
              </a:rPr>
              <a:t>Eight segments, two strategies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19152"/>
            <a:ext cx="108813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30000"/>
              </a:lnSpc>
            </a:pPr>
            <a:r>
              <a:rPr sz="1150" b="0" i="0" dirty="0">
                <a:solidFill>
                  <a:srgbClr val="3D5166"/>
                </a:solidFill>
                <a:latin typeface="Arial"/>
              </a:rPr>
              <a:t>Grow and protect the segments already producing revenue; win back the ones going quiet. Promo Dependency combines how often a segment uses discounts with how much of its revenue comes from them.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2042685"/>
          <a:ext cx="9784079" cy="4041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Segment</a:t>
                      </a:r>
                    </a:p>
                  </a:txBody>
                  <a:tcPr marL="73152" marR="73152" anchor="ctr">
                    <a:solidFill>
                      <a:srgbClr val="0E2A4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Customers</a:t>
                      </a:r>
                    </a:p>
                  </a:txBody>
                  <a:tcPr marL="73152" marR="73152" anchor="ctr">
                    <a:solidFill>
                      <a:srgbClr val="0E2A4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% Base</a:t>
                      </a:r>
                    </a:p>
                  </a:txBody>
                  <a:tcPr marL="73152" marR="73152" anchor="ctr">
                    <a:solidFill>
                      <a:srgbClr val="0E2A4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Revenue</a:t>
                      </a:r>
                    </a:p>
                  </a:txBody>
                  <a:tcPr marL="73152" marR="73152" anchor="ctr">
                    <a:solidFill>
                      <a:srgbClr val="0E2A4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% Rev.</a:t>
                      </a:r>
                    </a:p>
                  </a:txBody>
                  <a:tcPr marL="73152" marR="73152" anchor="ctr">
                    <a:solidFill>
                      <a:srgbClr val="0E2A4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Avg Rec.</a:t>
                      </a:r>
                    </a:p>
                  </a:txBody>
                  <a:tcPr marL="73152" marR="73152" anchor="ctr">
                    <a:solidFill>
                      <a:srgbClr val="0E2A4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Avg Freq.</a:t>
                      </a:r>
                    </a:p>
                  </a:txBody>
                  <a:tcPr marL="73152" marR="73152" anchor="ctr">
                    <a:solidFill>
                      <a:srgbClr val="0E2A4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Avg Mon.</a:t>
                      </a:r>
                    </a:p>
                  </a:txBody>
                  <a:tcPr marL="73152" marR="73152" anchor="ctr">
                    <a:solidFill>
                      <a:srgbClr val="0E2A4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Promo Dep.</a:t>
                      </a:r>
                    </a:p>
                  </a:txBody>
                  <a:tcPr marL="73152" marR="73152" anchor="ctr">
                    <a:solidFill>
                      <a:srgbClr val="0E2A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E75B6"/>
                          </a:solidFill>
                          <a:latin typeface="Arial"/>
                        </a:rPr>
                        <a:t>Elite Value</a:t>
                      </a:r>
                    </a:p>
                  </a:txBody>
                  <a:tcPr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E2A47"/>
                          </a:solidFill>
                          <a:latin typeface="Consolas"/>
                        </a:rPr>
                        <a:t>1,566</a:t>
                      </a:r>
                    </a:p>
                  </a:txBody>
                  <a:tcPr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E2A47"/>
                          </a:solidFill>
                          <a:latin typeface="Consolas"/>
                        </a:rPr>
                        <a:t>8.5%</a:t>
                      </a:r>
                    </a:p>
                  </a:txBody>
                  <a:tcPr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dirty="0">
                          <a:solidFill>
                            <a:srgbClr val="0E2A47"/>
                          </a:solidFill>
                          <a:latin typeface="Consolas"/>
                        </a:rPr>
                        <a:t>4.33bn</a:t>
                      </a:r>
                    </a:p>
                  </a:txBody>
                  <a:tcPr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E2A47"/>
                          </a:solidFill>
                          <a:latin typeface="Consolas"/>
                        </a:rPr>
                        <a:t>24.2%</a:t>
                      </a:r>
                    </a:p>
                  </a:txBody>
                  <a:tcPr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E2A47"/>
                          </a:solidFill>
                          <a:latin typeface="Consolas"/>
                        </a:rPr>
                        <a:t>15d</a:t>
                      </a:r>
                    </a:p>
                  </a:txBody>
                  <a:tcPr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E2A47"/>
                          </a:solidFill>
                          <a:latin typeface="Consolas"/>
                        </a:rPr>
                        <a:t>2.9</a:t>
                      </a:r>
                    </a:p>
                  </a:txBody>
                  <a:tcPr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E2A47"/>
                          </a:solidFill>
                          <a:latin typeface="Consolas"/>
                        </a:rPr>
                        <a:t>2.77M</a:t>
                      </a:r>
                    </a:p>
                  </a:txBody>
                  <a:tcPr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E2A47"/>
                          </a:solidFill>
                          <a:latin typeface="Consolas"/>
                        </a:rPr>
                        <a:t>1.9%</a:t>
                      </a:r>
                    </a:p>
                  </a:txBody>
                  <a:tcPr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E75B6"/>
                          </a:solidFill>
                          <a:latin typeface="Arial"/>
                        </a:rPr>
                        <a:t>Core Revenue</a:t>
                      </a:r>
                    </a:p>
                  </a:txBody>
                  <a:tcPr marR="73152" anchor="ctr">
                    <a:solidFill>
                      <a:srgbClr val="EDF2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E2A47"/>
                          </a:solidFill>
                          <a:latin typeface="Consolas"/>
                        </a:rPr>
                        <a:t>1,852</a:t>
                      </a:r>
                    </a:p>
                  </a:txBody>
                  <a:tcPr marR="73152" anchor="ctr">
                    <a:solidFill>
                      <a:srgbClr val="EDF2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E2A47"/>
                          </a:solidFill>
                          <a:latin typeface="Consolas"/>
                        </a:rPr>
                        <a:t>10.1%</a:t>
                      </a:r>
                    </a:p>
                  </a:txBody>
                  <a:tcPr marR="73152" anchor="ctr">
                    <a:solidFill>
                      <a:srgbClr val="EDF2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E2A47"/>
                          </a:solidFill>
                          <a:latin typeface="Consolas"/>
                        </a:rPr>
                        <a:t>2.35bn</a:t>
                      </a:r>
                    </a:p>
                  </a:txBody>
                  <a:tcPr marR="73152" anchor="ctr">
                    <a:solidFill>
                      <a:srgbClr val="EDF2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E2A47"/>
                          </a:solidFill>
                          <a:latin typeface="Consolas"/>
                        </a:rPr>
                        <a:t>13.1%</a:t>
                      </a:r>
                    </a:p>
                  </a:txBody>
                  <a:tcPr marR="73152" anchor="ctr">
                    <a:solidFill>
                      <a:srgbClr val="EDF2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E2A47"/>
                          </a:solidFill>
                          <a:latin typeface="Consolas"/>
                        </a:rPr>
                        <a:t>39d</a:t>
                      </a:r>
                    </a:p>
                  </a:txBody>
                  <a:tcPr marR="73152" anchor="ctr">
                    <a:solidFill>
                      <a:srgbClr val="EDF2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E2A47"/>
                          </a:solidFill>
                          <a:latin typeface="Consolas"/>
                        </a:rPr>
                        <a:t>2.4</a:t>
                      </a:r>
                    </a:p>
                  </a:txBody>
                  <a:tcPr marR="73152" anchor="ctr">
                    <a:solidFill>
                      <a:srgbClr val="EDF2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E2A47"/>
                          </a:solidFill>
                          <a:latin typeface="Consolas"/>
                        </a:rPr>
                        <a:t>1.27M</a:t>
                      </a:r>
                    </a:p>
                  </a:txBody>
                  <a:tcPr marR="73152" anchor="ctr">
                    <a:solidFill>
                      <a:srgbClr val="EDF2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E2A47"/>
                          </a:solidFill>
                          <a:latin typeface="Consolas"/>
                        </a:rPr>
                        <a:t>1.6%</a:t>
                      </a:r>
                    </a:p>
                  </a:txBody>
                  <a:tcPr marR="73152" anchor="ctr">
                    <a:solidFill>
                      <a:srgbClr val="ED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E75B6"/>
                          </a:solidFill>
                          <a:latin typeface="Arial"/>
                        </a:rPr>
                        <a:t>Growth Candidates</a:t>
                      </a:r>
                    </a:p>
                  </a:txBody>
                  <a:tcPr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E2A47"/>
                          </a:solidFill>
                          <a:latin typeface="Consolas"/>
                        </a:rPr>
                        <a:t>3,642</a:t>
                      </a:r>
                    </a:p>
                  </a:txBody>
                  <a:tcPr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E2A47"/>
                          </a:solidFill>
                          <a:latin typeface="Consolas"/>
                        </a:rPr>
                        <a:t>19.8%</a:t>
                      </a:r>
                    </a:p>
                  </a:txBody>
                  <a:tcPr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E2A47"/>
                          </a:solidFill>
                          <a:latin typeface="Consolas"/>
                        </a:rPr>
                        <a:t>2.57bn</a:t>
                      </a:r>
                    </a:p>
                  </a:txBody>
                  <a:tcPr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E2A47"/>
                          </a:solidFill>
                          <a:latin typeface="Consolas"/>
                        </a:rPr>
                        <a:t>14.4%</a:t>
                      </a:r>
                    </a:p>
                  </a:txBody>
                  <a:tcPr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E2A47"/>
                          </a:solidFill>
                          <a:latin typeface="Consolas"/>
                        </a:rPr>
                        <a:t>27d</a:t>
                      </a:r>
                    </a:p>
                  </a:txBody>
                  <a:tcPr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E2A47"/>
                          </a:solidFill>
                          <a:latin typeface="Consolas"/>
                        </a:rPr>
                        <a:t>1.2</a:t>
                      </a:r>
                    </a:p>
                  </a:txBody>
                  <a:tcPr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E2A47"/>
                          </a:solidFill>
                          <a:latin typeface="Consolas"/>
                        </a:rPr>
                        <a:t>0.71M</a:t>
                      </a:r>
                    </a:p>
                  </a:txBody>
                  <a:tcPr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E2A47"/>
                          </a:solidFill>
                          <a:latin typeface="Consolas"/>
                        </a:rPr>
                        <a:t>1.9%</a:t>
                      </a:r>
                    </a:p>
                  </a:txBody>
                  <a:tcPr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E75B6"/>
                          </a:solidFill>
                          <a:latin typeface="Arial"/>
                        </a:rPr>
                        <a:t>Early-Stage</a:t>
                      </a:r>
                    </a:p>
                  </a:txBody>
                  <a:tcPr marR="73152" anchor="ctr">
                    <a:solidFill>
                      <a:srgbClr val="EDF2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E2A47"/>
                          </a:solidFill>
                          <a:latin typeface="Consolas"/>
                        </a:rPr>
                        <a:t>2,851</a:t>
                      </a:r>
                    </a:p>
                  </a:txBody>
                  <a:tcPr marR="73152" anchor="ctr">
                    <a:solidFill>
                      <a:srgbClr val="EDF2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E2A47"/>
                          </a:solidFill>
                          <a:latin typeface="Consolas"/>
                        </a:rPr>
                        <a:t>15.5%</a:t>
                      </a:r>
                    </a:p>
                  </a:txBody>
                  <a:tcPr marR="73152" anchor="ctr">
                    <a:solidFill>
                      <a:srgbClr val="EDF2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E2A47"/>
                          </a:solidFill>
                          <a:latin typeface="Consolas"/>
                        </a:rPr>
                        <a:t>1.82bn</a:t>
                      </a:r>
                    </a:p>
                  </a:txBody>
                  <a:tcPr marR="73152" anchor="ctr">
                    <a:solidFill>
                      <a:srgbClr val="EDF2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E2A47"/>
                          </a:solidFill>
                          <a:latin typeface="Consolas"/>
                        </a:rPr>
                        <a:t>10.2%</a:t>
                      </a:r>
                    </a:p>
                  </a:txBody>
                  <a:tcPr marR="73152" anchor="ctr">
                    <a:solidFill>
                      <a:srgbClr val="EDF2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E2A47"/>
                          </a:solidFill>
                          <a:latin typeface="Consolas"/>
                        </a:rPr>
                        <a:t>63d</a:t>
                      </a:r>
                    </a:p>
                  </a:txBody>
                  <a:tcPr marR="73152" anchor="ctr">
                    <a:solidFill>
                      <a:srgbClr val="EDF2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E2A47"/>
                          </a:solidFill>
                          <a:latin typeface="Consolas"/>
                        </a:rPr>
                        <a:t>1.0</a:t>
                      </a:r>
                    </a:p>
                  </a:txBody>
                  <a:tcPr marR="73152" anchor="ctr">
                    <a:solidFill>
                      <a:srgbClr val="EDF2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E2A47"/>
                          </a:solidFill>
                          <a:latin typeface="Consolas"/>
                        </a:rPr>
                        <a:t>0.64M</a:t>
                      </a:r>
                    </a:p>
                  </a:txBody>
                  <a:tcPr marR="73152" anchor="ctr">
                    <a:solidFill>
                      <a:srgbClr val="EDF2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E2A47"/>
                          </a:solidFill>
                          <a:latin typeface="Consolas"/>
                        </a:rPr>
                        <a:t>2.0%</a:t>
                      </a:r>
                    </a:p>
                  </a:txBody>
                  <a:tcPr marR="73152" anchor="ctr">
                    <a:solidFill>
                      <a:srgbClr val="ED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E75B6"/>
                          </a:solidFill>
                          <a:latin typeface="Arial"/>
                        </a:rPr>
                        <a:t>Cooling-Down</a:t>
                      </a:r>
                    </a:p>
                  </a:txBody>
                  <a:tcPr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E2A47"/>
                          </a:solidFill>
                          <a:latin typeface="Consolas"/>
                        </a:rPr>
                        <a:t>1,171</a:t>
                      </a:r>
                    </a:p>
                  </a:txBody>
                  <a:tcPr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E2A47"/>
                          </a:solidFill>
                          <a:latin typeface="Consolas"/>
                        </a:rPr>
                        <a:t>6.4%</a:t>
                      </a:r>
                    </a:p>
                  </a:txBody>
                  <a:tcPr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E2A47"/>
                          </a:solidFill>
                          <a:latin typeface="Consolas"/>
                        </a:rPr>
                        <a:t>1.36bn</a:t>
                      </a:r>
                    </a:p>
                  </a:txBody>
                  <a:tcPr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E2A47"/>
                          </a:solidFill>
                          <a:latin typeface="Consolas"/>
                        </a:rPr>
                        <a:t>7.6%</a:t>
                      </a:r>
                    </a:p>
                  </a:txBody>
                  <a:tcPr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E2A47"/>
                          </a:solidFill>
                          <a:latin typeface="Consolas"/>
                        </a:rPr>
                        <a:t>72d</a:t>
                      </a:r>
                    </a:p>
                  </a:txBody>
                  <a:tcPr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E2A47"/>
                          </a:solidFill>
                          <a:latin typeface="Consolas"/>
                        </a:rPr>
                        <a:t>2.0</a:t>
                      </a:r>
                    </a:p>
                  </a:txBody>
                  <a:tcPr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E2A47"/>
                          </a:solidFill>
                          <a:latin typeface="Consolas"/>
                        </a:rPr>
                        <a:t>1.16M</a:t>
                      </a:r>
                    </a:p>
                  </a:txBody>
                  <a:tcPr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E2A47"/>
                          </a:solidFill>
                          <a:latin typeface="Consolas"/>
                        </a:rPr>
                        <a:t>3.1%</a:t>
                      </a:r>
                    </a:p>
                  </a:txBody>
                  <a:tcPr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E75B6"/>
                          </a:solidFill>
                          <a:latin typeface="Arial"/>
                        </a:rPr>
                        <a:t>Dormant</a:t>
                      </a:r>
                    </a:p>
                  </a:txBody>
                  <a:tcPr marR="73152" anchor="ctr">
                    <a:solidFill>
                      <a:srgbClr val="EDF2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E2A47"/>
                          </a:solidFill>
                          <a:latin typeface="Consolas"/>
                        </a:rPr>
                        <a:t>3,476</a:t>
                      </a:r>
                    </a:p>
                  </a:txBody>
                  <a:tcPr marR="73152" anchor="ctr">
                    <a:solidFill>
                      <a:srgbClr val="EDF2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E2A47"/>
                          </a:solidFill>
                          <a:latin typeface="Consolas"/>
                        </a:rPr>
                        <a:t>18.9%</a:t>
                      </a:r>
                    </a:p>
                  </a:txBody>
                  <a:tcPr marR="73152" anchor="ctr">
                    <a:solidFill>
                      <a:srgbClr val="EDF2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E2A47"/>
                          </a:solidFill>
                          <a:latin typeface="Consolas"/>
                        </a:rPr>
                        <a:t>2.40bn</a:t>
                      </a:r>
                    </a:p>
                  </a:txBody>
                  <a:tcPr marR="73152" anchor="ctr">
                    <a:solidFill>
                      <a:srgbClr val="EDF2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E2A47"/>
                          </a:solidFill>
                          <a:latin typeface="Consolas"/>
                        </a:rPr>
                        <a:t>13.4%</a:t>
                      </a:r>
                    </a:p>
                  </a:txBody>
                  <a:tcPr marR="73152" anchor="ctr">
                    <a:solidFill>
                      <a:srgbClr val="EDF2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E2A47"/>
                          </a:solidFill>
                          <a:latin typeface="Consolas"/>
                        </a:rPr>
                        <a:t>132d</a:t>
                      </a:r>
                    </a:p>
                  </a:txBody>
                  <a:tcPr marR="73152" anchor="ctr">
                    <a:solidFill>
                      <a:srgbClr val="EDF2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E2A47"/>
                          </a:solidFill>
                          <a:latin typeface="Consolas"/>
                        </a:rPr>
                        <a:t>1.2</a:t>
                      </a:r>
                    </a:p>
                  </a:txBody>
                  <a:tcPr marR="73152" anchor="ctr">
                    <a:solidFill>
                      <a:srgbClr val="EDF2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E2A47"/>
                          </a:solidFill>
                          <a:latin typeface="Consolas"/>
                        </a:rPr>
                        <a:t>0.69M</a:t>
                      </a:r>
                    </a:p>
                  </a:txBody>
                  <a:tcPr marR="73152" anchor="ctr">
                    <a:solidFill>
                      <a:srgbClr val="EDF2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E2A47"/>
                          </a:solidFill>
                          <a:latin typeface="Consolas"/>
                        </a:rPr>
                        <a:t>1.6%</a:t>
                      </a:r>
                    </a:p>
                  </a:txBody>
                  <a:tcPr marR="73152" anchor="ctr">
                    <a:solidFill>
                      <a:srgbClr val="ED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E75B6"/>
                          </a:solidFill>
                          <a:latin typeface="Arial"/>
                        </a:rPr>
                        <a:t>High-Risk High-Value</a:t>
                      </a:r>
                    </a:p>
                  </a:txBody>
                  <a:tcPr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E2A47"/>
                          </a:solidFill>
                          <a:latin typeface="Consolas"/>
                        </a:rPr>
                        <a:t>171</a:t>
                      </a:r>
                    </a:p>
                  </a:txBody>
                  <a:tcPr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E2A47"/>
                          </a:solidFill>
                          <a:latin typeface="Consolas"/>
                        </a:rPr>
                        <a:t>0.9%</a:t>
                      </a:r>
                    </a:p>
                  </a:txBody>
                  <a:tcPr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E2A47"/>
                          </a:solidFill>
                          <a:latin typeface="Consolas"/>
                        </a:rPr>
                        <a:t>0.29bn</a:t>
                      </a:r>
                    </a:p>
                  </a:txBody>
                  <a:tcPr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E2A47"/>
                          </a:solidFill>
                          <a:latin typeface="Consolas"/>
                        </a:rPr>
                        <a:t>1.6%</a:t>
                      </a:r>
                    </a:p>
                  </a:txBody>
                  <a:tcPr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E2A47"/>
                          </a:solidFill>
                          <a:latin typeface="Consolas"/>
                        </a:rPr>
                        <a:t>123d</a:t>
                      </a:r>
                    </a:p>
                  </a:txBody>
                  <a:tcPr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E2A47"/>
                          </a:solidFill>
                          <a:latin typeface="Consolas"/>
                        </a:rPr>
                        <a:t>3.0</a:t>
                      </a:r>
                    </a:p>
                  </a:txBody>
                  <a:tcPr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E2A47"/>
                          </a:solidFill>
                          <a:latin typeface="Consolas"/>
                        </a:rPr>
                        <a:t>1.68M</a:t>
                      </a:r>
                    </a:p>
                  </a:txBody>
                  <a:tcPr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E2A47"/>
                          </a:solidFill>
                          <a:latin typeface="Consolas"/>
                        </a:rPr>
                        <a:t>1.1%</a:t>
                      </a:r>
                    </a:p>
                  </a:txBody>
                  <a:tcPr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E75B6"/>
                          </a:solidFill>
                          <a:latin typeface="Arial"/>
                        </a:rPr>
                        <a:t>Churned</a:t>
                      </a:r>
                    </a:p>
                  </a:txBody>
                  <a:tcPr marR="73152" anchor="ctr">
                    <a:solidFill>
                      <a:srgbClr val="EDF2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E2A47"/>
                          </a:solidFill>
                          <a:latin typeface="Consolas"/>
                        </a:rPr>
                        <a:t>3,635</a:t>
                      </a:r>
                    </a:p>
                  </a:txBody>
                  <a:tcPr marR="73152" anchor="ctr">
                    <a:solidFill>
                      <a:srgbClr val="EDF2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E2A47"/>
                          </a:solidFill>
                          <a:latin typeface="Consolas"/>
                        </a:rPr>
                        <a:t>19.8%</a:t>
                      </a:r>
                    </a:p>
                  </a:txBody>
                  <a:tcPr marR="73152" anchor="ctr">
                    <a:solidFill>
                      <a:srgbClr val="EDF2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E2A47"/>
                          </a:solidFill>
                          <a:latin typeface="Consolas"/>
                        </a:rPr>
                        <a:t>2.78bn</a:t>
                      </a:r>
                    </a:p>
                  </a:txBody>
                  <a:tcPr marR="73152" anchor="ctr">
                    <a:solidFill>
                      <a:srgbClr val="EDF2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E2A47"/>
                          </a:solidFill>
                          <a:latin typeface="Consolas"/>
                        </a:rPr>
                        <a:t>15.5%</a:t>
                      </a:r>
                    </a:p>
                  </a:txBody>
                  <a:tcPr marR="73152" anchor="ctr">
                    <a:solidFill>
                      <a:srgbClr val="EDF2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E2A47"/>
                          </a:solidFill>
                          <a:latin typeface="Consolas"/>
                        </a:rPr>
                        <a:t>250d</a:t>
                      </a:r>
                    </a:p>
                  </a:txBody>
                  <a:tcPr marR="73152" anchor="ctr">
                    <a:solidFill>
                      <a:srgbClr val="EDF2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E2A47"/>
                          </a:solidFill>
                          <a:latin typeface="Consolas"/>
                        </a:rPr>
                        <a:t>1.1</a:t>
                      </a:r>
                    </a:p>
                  </a:txBody>
                  <a:tcPr marR="73152" anchor="ctr">
                    <a:solidFill>
                      <a:srgbClr val="EDF2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E2A47"/>
                          </a:solidFill>
                          <a:latin typeface="Consolas"/>
                        </a:rPr>
                        <a:t>0.76M</a:t>
                      </a:r>
                    </a:p>
                  </a:txBody>
                  <a:tcPr marR="73152" anchor="ctr">
                    <a:solidFill>
                      <a:srgbClr val="EDF2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dirty="0">
                          <a:solidFill>
                            <a:srgbClr val="0E2A47"/>
                          </a:solidFill>
                          <a:latin typeface="Consolas"/>
                        </a:rPr>
                        <a:t>2.6%</a:t>
                      </a:r>
                    </a:p>
                  </a:txBody>
                  <a:tcPr marR="73152" anchor="ctr">
                    <a:solidFill>
                      <a:srgbClr val="ED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6330839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E75B6"/>
                </a:solidFill>
                <a:latin typeface="Arial"/>
              </a:rPr>
              <a:t>RECOMMENDATIONS, GROW &amp; PROTECT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320040"/>
            <a:ext cx="13716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3D5166"/>
                </a:solidFill>
                <a:latin typeface="Consolas"/>
              </a:rPr>
              <a:t>09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91440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30000"/>
              </a:lnSpc>
            </a:pPr>
            <a:r>
              <a:rPr sz="3200" b="1" i="0">
                <a:solidFill>
                  <a:srgbClr val="0E2A47"/>
                </a:solidFill>
                <a:latin typeface="Arial"/>
              </a:rPr>
              <a:t>Spend on perks, not discounts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07008"/>
            <a:ext cx="10881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3D5166"/>
                </a:solidFill>
                <a:latin typeface="Arial"/>
              </a:rPr>
              <a:t>These four segments already produce 62% of revenue. The goal is to grow them further without teaching them to expect a discount.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65960"/>
            <a:ext cx="5193792" cy="210312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9525">
            <a:solidFill>
              <a:srgbClr val="ED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48640" y="1965960"/>
            <a:ext cx="5193792" cy="3810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04672" y="2148840"/>
            <a:ext cx="4681728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30000"/>
              </a:lnSpc>
            </a:pPr>
            <a:r>
              <a:rPr sz="1550" b="1" i="0">
                <a:solidFill>
                  <a:srgbClr val="0E2A47"/>
                </a:solidFill>
                <a:latin typeface="Arial"/>
              </a:rPr>
              <a:t>Elite Value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2148840"/>
            <a:ext cx="4681728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3D5166"/>
                </a:solidFill>
                <a:latin typeface="Consolas"/>
              </a:rPr>
              <a:t>24.2% of revenue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606040"/>
            <a:ext cx="4681728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3D5166"/>
                </a:solidFill>
                <a:latin typeface="Arial"/>
              </a:rPr>
              <a:t>They already use the quantity discount more than anyone. Instead of deeper discounts, show how close they are to the next tier ("3 more units unlocks 15% off") and offer perks that don't cut price: early access, free shipping, tier status.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61888" y="1965960"/>
            <a:ext cx="5193792" cy="210312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9525">
            <a:solidFill>
              <a:srgbClr val="ED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961888" y="1965960"/>
            <a:ext cx="5193792" cy="3810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217920" y="2148840"/>
            <a:ext cx="4681728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30000"/>
              </a:lnSpc>
            </a:pPr>
            <a:r>
              <a:rPr sz="1550" b="1" i="0">
                <a:solidFill>
                  <a:srgbClr val="0E2A47"/>
                </a:solidFill>
                <a:latin typeface="Arial"/>
              </a:rPr>
              <a:t>Core Revenue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2148840"/>
            <a:ext cx="4681728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3D5166"/>
                </a:solidFill>
                <a:latin typeface="Consolas"/>
              </a:rPr>
              <a:t>2.4 orders avg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2606040"/>
            <a:ext cx="4681728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3D5166"/>
                </a:solidFill>
                <a:latin typeface="Arial"/>
              </a:rPr>
              <a:t>They spend well but order rarely. Cross-sell bundles and "you're close to Elite" volume prompts fit this group better than blanket price cuts.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206240"/>
            <a:ext cx="5193792" cy="210312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9525">
            <a:solidFill>
              <a:srgbClr val="ED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48640" y="4206240"/>
            <a:ext cx="5193792" cy="3810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04672" y="4389120"/>
            <a:ext cx="4681728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30000"/>
              </a:lnSpc>
            </a:pPr>
            <a:r>
              <a:rPr sz="1550" b="1" i="0">
                <a:solidFill>
                  <a:srgbClr val="0E2A47"/>
                </a:solidFill>
                <a:latin typeface="Arial"/>
              </a:rPr>
              <a:t>Growth Candidates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" y="4389120"/>
            <a:ext cx="4681728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3D5166"/>
                </a:solidFill>
                <a:latin typeface="Consolas"/>
              </a:rPr>
              <a:t>3,642 customers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4846320"/>
            <a:ext cx="4681728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3D5166"/>
                </a:solidFill>
                <a:latin typeface="Arial"/>
              </a:rPr>
              <a:t>The largest healthy segment: recent buyers who haven't ordered often yet. A small, time-limited incentive aimed at a second or third purchase reaches more customers than any other move on this page.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61888" y="4206240"/>
            <a:ext cx="5193792" cy="210312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9525">
            <a:solidFill>
              <a:srgbClr val="ED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5961888" y="4206240"/>
            <a:ext cx="5193792" cy="3810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217920" y="4389120"/>
            <a:ext cx="4681728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30000"/>
              </a:lnSpc>
            </a:pPr>
            <a:r>
              <a:rPr sz="1550" b="1" i="0">
                <a:solidFill>
                  <a:srgbClr val="0E2A47"/>
                </a:solidFill>
                <a:latin typeface="Arial"/>
              </a:rPr>
              <a:t>Early-Stage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0" y="4389120"/>
            <a:ext cx="4681728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3D5166"/>
                </a:solidFill>
                <a:latin typeface="Consolas"/>
              </a:rPr>
              <a:t>39% promo rev. share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7920" y="4846320"/>
            <a:ext cx="4681728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3D5166"/>
                </a:solidFill>
                <a:latin typeface="Arial"/>
              </a:rPr>
              <a:t>They rarely use promos (5.1% of orders), but when they do, promos make up 39% of their spend. A first-purchase volume offer can build the habit before they drift toward Dormant.</a:t>
            </a:r>
          </a:p>
        </p:txBody>
      </p:sp>
    </p:spTree>
    <p:extLst>
      <p:ext uri="{BB962C8B-B14F-4D97-AF65-F5344CB8AC3E}">
        <p14:creationId xmlns:p14="http://schemas.microsoft.com/office/powerpoint/2010/main" val="40634836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E75B6"/>
                </a:solidFill>
                <a:latin typeface="Arial"/>
              </a:rPr>
              <a:t>RECOMMENDATIONS, WIN BACK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320040"/>
            <a:ext cx="13716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3D5166"/>
                </a:solidFill>
                <a:latin typeface="Consolas"/>
              </a:rPr>
              <a:t>10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91440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30000"/>
              </a:lnSpc>
            </a:pPr>
            <a:r>
              <a:rPr sz="3200" b="1" i="0">
                <a:solidFill>
                  <a:srgbClr val="0E2A47"/>
                </a:solidFill>
                <a:latin typeface="Arial"/>
              </a:rPr>
              <a:t>Win back at-risk customers, cheapest first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07008"/>
            <a:ext cx="10881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3D5166"/>
                </a:solidFill>
                <a:latin typeface="Arial"/>
              </a:rPr>
              <a:t>4,818 customers holding 4.05bn in revenue, all inactive to different degrees. Work through them in the order below, cheapest recovery first.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65960"/>
            <a:ext cx="5193792" cy="210312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9525">
            <a:solidFill>
              <a:srgbClr val="ED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48640" y="1965960"/>
            <a:ext cx="5193792" cy="3810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04672" y="2148840"/>
            <a:ext cx="4681728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30000"/>
              </a:lnSpc>
            </a:pPr>
            <a:r>
              <a:rPr sz="1550" b="1" i="0">
                <a:solidFill>
                  <a:srgbClr val="0E2A47"/>
                </a:solidFill>
                <a:latin typeface="Arial"/>
              </a:rPr>
              <a:t>Cooling-Down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2148840"/>
            <a:ext cx="4681728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3D5166"/>
                </a:solidFill>
                <a:latin typeface="Consolas"/>
              </a:rPr>
              <a:t>Dependency 3.1%, highest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606040"/>
            <a:ext cx="4681728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3D5166"/>
                </a:solidFill>
                <a:latin typeface="Arial"/>
              </a:rPr>
              <a:t>Inactive only 72 days, and the most price-responsive segment in the base. They should get the first reactivation offer, and note the dashboard's own risk cards currently miss them entirely (p.12).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61888" y="1965960"/>
            <a:ext cx="5193792" cy="210312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9525">
            <a:solidFill>
              <a:srgbClr val="ED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961888" y="1965960"/>
            <a:ext cx="5193792" cy="3810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217920" y="2148840"/>
            <a:ext cx="4681728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30000"/>
              </a:lnSpc>
            </a:pPr>
            <a:r>
              <a:rPr sz="1550" b="1" i="0">
                <a:solidFill>
                  <a:srgbClr val="0E2A47"/>
                </a:solidFill>
                <a:latin typeface="Arial"/>
              </a:rPr>
              <a:t>Dormant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2148840"/>
            <a:ext cx="4681728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3D5166"/>
                </a:solidFill>
                <a:latin typeface="Consolas"/>
              </a:rPr>
              <a:t>3,476 customers, largest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2606040"/>
            <a:ext cx="4681728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3D5166"/>
                </a:solidFill>
                <a:latin typeface="Arial"/>
              </a:rPr>
              <a:t>After 132 days away, a percentage off alone probably isn't enough. Pair the discount with free shipping or a bundle to make a return order worth the trip.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206240"/>
            <a:ext cx="5193792" cy="210312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9525">
            <a:solidFill>
              <a:srgbClr val="ED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48640" y="4206240"/>
            <a:ext cx="5193792" cy="3810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04672" y="4389120"/>
            <a:ext cx="4681728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30000"/>
              </a:lnSpc>
            </a:pPr>
            <a:r>
              <a:rPr sz="1550" b="1" i="0">
                <a:solidFill>
                  <a:srgbClr val="0E2A47"/>
                </a:solidFill>
                <a:latin typeface="Arial"/>
              </a:rPr>
              <a:t>High-Risk High-Value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" y="4389120"/>
            <a:ext cx="4681728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3D5166"/>
                </a:solidFill>
                <a:latin typeface="Consolas"/>
              </a:rPr>
              <a:t>1.68M avg spend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4846320"/>
            <a:ext cx="4681728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3D5166"/>
                </a:solidFill>
                <a:latin typeface="Arial"/>
              </a:rPr>
              <a:t>Only 171 customers, but the second-highest average spend and the least discount-dependent. A discount isn't the right tool here. Personal outreach is, and with 171 people that's affordable.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61888" y="4206240"/>
            <a:ext cx="5193792" cy="210312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9525">
            <a:solidFill>
              <a:srgbClr val="ED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5961888" y="4206240"/>
            <a:ext cx="5193792" cy="3810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217920" y="4389120"/>
            <a:ext cx="4681728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30000"/>
              </a:lnSpc>
            </a:pPr>
            <a:r>
              <a:rPr sz="1550" b="1" i="0">
                <a:solidFill>
                  <a:srgbClr val="0E2A47"/>
                </a:solidFill>
                <a:latin typeface="Arial"/>
              </a:rPr>
              <a:t>Churned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0" y="4389120"/>
            <a:ext cx="4681728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3D5166"/>
                </a:solidFill>
                <a:latin typeface="Consolas"/>
              </a:rPr>
              <a:t>36% promo rev. share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7920" y="4846320"/>
            <a:ext cx="4681728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3D5166"/>
                </a:solidFill>
                <a:latin typeface="Arial"/>
              </a:rPr>
              <a:t>Gone 250 days, but when they did buy, promos drove 36% of their spend, the second highest of any segment. Test discount depth on a small sample before writing them off.</a:t>
            </a:r>
          </a:p>
        </p:txBody>
      </p:sp>
    </p:spTree>
    <p:extLst>
      <p:ext uri="{BB962C8B-B14F-4D97-AF65-F5344CB8AC3E}">
        <p14:creationId xmlns:p14="http://schemas.microsoft.com/office/powerpoint/2010/main" val="387809872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E75B6"/>
                </a:solidFill>
                <a:latin typeface="Arial"/>
              </a:rPr>
              <a:t>FIX THE MECHANIC ITSELF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320040"/>
            <a:ext cx="13716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3D5166"/>
                </a:solidFill>
                <a:latin typeface="Consolas"/>
              </a:rPr>
              <a:t>11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91440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30000"/>
              </a:lnSpc>
            </a:pPr>
            <a:r>
              <a:rPr sz="3200" b="1" i="0">
                <a:solidFill>
                  <a:srgbClr val="0E2A47"/>
                </a:solidFill>
                <a:latin typeface="Arial"/>
              </a:rPr>
              <a:t>Before targeting better, run it better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07008"/>
            <a:ext cx="108813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3D5166"/>
                </a:solidFill>
                <a:latin typeface="Arial"/>
              </a:rPr>
              <a:t>Four changes to how promotions are planned and measured, regardless of which segment they target.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20240"/>
            <a:ext cx="11091672" cy="100584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9525">
            <a:solidFill>
              <a:srgbClr val="ED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2084832"/>
            <a:ext cx="6400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</a:pPr>
            <a:r>
              <a:rPr sz="3200" b="0" i="0">
                <a:solidFill>
                  <a:srgbClr val="0E2A47"/>
                </a:solidFill>
                <a:latin typeface="Arial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039112"/>
            <a:ext cx="97840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E2A47"/>
                </a:solidFill>
                <a:latin typeface="Arial"/>
              </a:rPr>
              <a:t>Stabilize the calendar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350008"/>
            <a:ext cx="978408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25000"/>
              </a:lnSpc>
            </a:pPr>
            <a:r>
              <a:rPr sz="1080" b="0" i="0">
                <a:solidFill>
                  <a:srgbClr val="3D5166"/>
                </a:solidFill>
                <a:latin typeface="Arial"/>
              </a:rPr>
              <a:t>Promo's share of revenue swung from 1.1% to 54.3% to 16.1% across three years. A planned, steady schedule gives customers less reason to hold out for the next big sale.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054096"/>
            <a:ext cx="11091672" cy="100584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9525">
            <a:solidFill>
              <a:srgbClr val="ED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3218688"/>
            <a:ext cx="6400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</a:pPr>
            <a:r>
              <a:rPr sz="3200" b="0" i="0">
                <a:solidFill>
                  <a:srgbClr val="0E2A47"/>
                </a:solidFill>
                <a:latin typeface="Arial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72968"/>
            <a:ext cx="97840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E2A47"/>
                </a:solidFill>
                <a:latin typeface="Arial"/>
              </a:rPr>
              <a:t>Retire or relaunch "new product" offers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483864"/>
            <a:ext cx="978408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25000"/>
              </a:lnSpc>
            </a:pPr>
            <a:r>
              <a:rPr sz="1080" b="0" i="0">
                <a:solidFill>
                  <a:srgbClr val="3D5166"/>
                </a:solidFill>
                <a:latin typeface="Arial"/>
              </a:rPr>
              <a:t>33 orders on an average 17% discount does not cover its cost. Either drop the offer or re-test its placement and messaging before spending more on it.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187952"/>
            <a:ext cx="11091672" cy="100584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9525">
            <a:solidFill>
              <a:srgbClr val="ED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77240" y="4352544"/>
            <a:ext cx="6400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</a:pPr>
            <a:r>
              <a:rPr sz="3200" b="0" i="0">
                <a:solidFill>
                  <a:srgbClr val="0E2A47"/>
                </a:solidFill>
                <a:latin typeface="Arial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4306824"/>
            <a:ext cx="97840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E2A47"/>
                </a:solidFill>
                <a:latin typeface="Arial"/>
              </a:rPr>
              <a:t>Show customers the deeper discount tiers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4617720"/>
            <a:ext cx="978408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25000"/>
              </a:lnSpc>
            </a:pPr>
            <a:r>
              <a:rPr sz="1080" b="0" i="0">
                <a:solidFill>
                  <a:srgbClr val="3D5166"/>
                </a:solidFill>
                <a:latin typeface="Arial"/>
              </a:rPr>
              <a:t>91% of quantity-discount orders stop at the shallowest tier (11-14 units, 2% off). The 5%, 10%, 15% and 20% tiers already exist but barely get used. Telling customers how close they are to the next tier costs little to try.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5321808"/>
            <a:ext cx="11091672" cy="100584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9525">
            <a:solidFill>
              <a:srgbClr val="ED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77240" y="5486400"/>
            <a:ext cx="6400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</a:pPr>
            <a:r>
              <a:rPr sz="3200" b="0" i="0">
                <a:solidFill>
                  <a:srgbClr val="0E2A47"/>
                </a:solidFill>
                <a:latin typeface="Arial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5440680"/>
            <a:ext cx="97840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E2A47"/>
                </a:solidFill>
                <a:latin typeface="Arial"/>
              </a:rPr>
              <a:t>Measure profit, not just revenue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5751576"/>
            <a:ext cx="978408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25000"/>
              </a:lnSpc>
            </a:pPr>
            <a:r>
              <a:rPr sz="1080" b="0" i="0">
                <a:solidFill>
                  <a:srgbClr val="3D5166"/>
                </a:solidFill>
                <a:latin typeface="Arial"/>
              </a:rPr>
              <a:t>Discount percent and unit cost are both already in the model. Join them, and "promotion effectiveness" can report profit contribution instead of just sales.</a:t>
            </a:r>
          </a:p>
        </p:txBody>
      </p:sp>
    </p:spTree>
    <p:extLst>
      <p:ext uri="{BB962C8B-B14F-4D97-AF65-F5344CB8AC3E}">
        <p14:creationId xmlns:p14="http://schemas.microsoft.com/office/powerpoint/2010/main" val="25998534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E75B6"/>
                </a:solidFill>
                <a:latin typeface="Arial"/>
              </a:rPr>
              <a:t>WHERE THE DASHBOARD STILL FALLS SHORT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320040"/>
            <a:ext cx="13716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3D5166"/>
                </a:solidFill>
                <a:latin typeface="Consolas"/>
              </a:rPr>
              <a:t>12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00584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30000"/>
              </a:lnSpc>
            </a:pPr>
            <a:r>
              <a:rPr sz="3200" b="1" i="0">
                <a:solidFill>
                  <a:srgbClr val="0E2A47"/>
                </a:solidFill>
                <a:latin typeface="Arial"/>
              </a:rPr>
              <a:t>Fix the model before trusting the KPI cards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10881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3D5166"/>
                </a:solidFill>
                <a:latin typeface="Arial"/>
              </a:rPr>
              <a:t>Each of these can be verified against the dashboard's own DAX and data, and two of them change numbers a viewer would act 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74519"/>
            <a:ext cx="3566160" cy="2148840"/>
          </a:xfrm>
          <a:prstGeom prst="roundRect">
            <a:avLst>
              <a:gd name="adj" fmla="val 0"/>
            </a:avLst>
          </a:prstGeom>
          <a:solidFill>
            <a:srgbClr val="EDF2F8"/>
          </a:solidFill>
          <a:ln w="952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49808" y="2020823"/>
            <a:ext cx="3163824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3D5166"/>
                </a:solidFill>
                <a:latin typeface="Arial"/>
              </a:rPr>
              <a:t>CONFIRMED BUG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295143"/>
            <a:ext cx="3163824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2000"/>
              </a:lnSpc>
            </a:pPr>
            <a:r>
              <a:rPr sz="1250" b="1" i="0">
                <a:solidFill>
                  <a:srgbClr val="0E2A47"/>
                </a:solidFill>
                <a:latin typeface="Arial"/>
              </a:rPr>
              <a:t>Churn-risk cards undercount by 1,171 customers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770631"/>
            <a:ext cx="3163824" cy="7132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8000"/>
              </a:lnSpc>
            </a:pPr>
            <a:r>
              <a:rPr sz="930" b="0" i="0">
                <a:solidFill>
                  <a:srgbClr val="3D5166"/>
                </a:solidFill>
                <a:latin typeface="Arial"/>
              </a:rPr>
              <a:t>The "at-risk" filter looks for "Cooling Down Customers" (no hyphen); the real segment name has a hyphen. The mismatch silently drops the whole segment.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9808" y="3602735"/>
            <a:ext cx="3163824" cy="292608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9525">
            <a:solidFill>
              <a:srgbClr val="ED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3634739"/>
            <a:ext cx="301752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</a:pPr>
            <a:r>
              <a:rPr sz="840" b="0" i="0">
                <a:solidFill>
                  <a:srgbClr val="0E2A47"/>
                </a:solidFill>
                <a:latin typeface="Consolas"/>
              </a:rPr>
              <a:t>Shown 3.65K/2.69bn -&gt; actual 4,818/4.05bn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51960" y="1874519"/>
            <a:ext cx="3566160" cy="2148840"/>
          </a:xfrm>
          <a:prstGeom prst="roundRect">
            <a:avLst>
              <a:gd name="adj" fmla="val 0"/>
            </a:avLst>
          </a:prstGeom>
          <a:solidFill>
            <a:srgbClr val="EDF2F8"/>
          </a:solidFill>
          <a:ln w="9525">
            <a:solidFill>
              <a:srgbClr val="ED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453128" y="2020823"/>
            <a:ext cx="3163824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0E2A47"/>
                </a:solidFill>
                <a:latin typeface="Arial"/>
              </a:rPr>
              <a:t>DATA LIMITATION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53128" y="2295143"/>
            <a:ext cx="3163824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2000"/>
              </a:lnSpc>
            </a:pPr>
            <a:r>
              <a:rPr sz="1250" b="1" i="0">
                <a:solidFill>
                  <a:srgbClr val="0E2A47"/>
                </a:solidFill>
                <a:latin typeface="Arial"/>
              </a:rPr>
              <a:t>9 of 16 promotions predate the data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53128" y="2770631"/>
            <a:ext cx="3163824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8000"/>
              </a:lnSpc>
            </a:pPr>
            <a:r>
              <a:rPr sz="930" b="0" i="0">
                <a:solidFill>
                  <a:srgbClr val="3D5166"/>
                </a:solidFill>
                <a:latin typeface="Arial"/>
              </a:rPr>
              <a:t>Their validity windows run 2010-2013, but every transaction on record is from 2020-2022. "Promotion Effectiveness by Type" really covers 2 promotion types, not the full catalog it implies.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55279" y="1874519"/>
            <a:ext cx="3566160" cy="2148840"/>
          </a:xfrm>
          <a:prstGeom prst="roundRect">
            <a:avLst>
              <a:gd name="adj" fmla="val 0"/>
            </a:avLst>
          </a:prstGeom>
          <a:solidFill>
            <a:srgbClr val="EDF2F8"/>
          </a:solidFill>
          <a:ln w="9525">
            <a:solidFill>
              <a:srgbClr val="ED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156447" y="2020823"/>
            <a:ext cx="3163824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0E2A47"/>
                </a:solidFill>
                <a:latin typeface="Arial"/>
              </a:rPr>
              <a:t>MEASUREMENT GAP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56447" y="2295143"/>
            <a:ext cx="3163824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2000"/>
              </a:lnSpc>
            </a:pPr>
            <a:r>
              <a:rPr sz="1250" b="1" i="0">
                <a:solidFill>
                  <a:srgbClr val="0E2A47"/>
                </a:solidFill>
                <a:latin typeface="Arial"/>
              </a:rPr>
              <a:t>Effectiveness is revenue, not profit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56447" y="2770631"/>
            <a:ext cx="3163824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8000"/>
              </a:lnSpc>
            </a:pPr>
            <a:r>
              <a:rPr sz="930" b="0" i="0">
                <a:solidFill>
                  <a:srgbClr val="3D5166"/>
                </a:solidFill>
                <a:latin typeface="Arial"/>
              </a:rPr>
              <a:t>unit_cost and discount_percent both exist in the model, but no measure combines them, so a deep, unprofitable discount looks identical to an efficient one.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160520"/>
            <a:ext cx="3566160" cy="2148840"/>
          </a:xfrm>
          <a:prstGeom prst="roundRect">
            <a:avLst>
              <a:gd name="adj" fmla="val 0"/>
            </a:avLst>
          </a:prstGeom>
          <a:solidFill>
            <a:srgbClr val="EDF2F8"/>
          </a:solidFill>
          <a:ln w="9525">
            <a:solidFill>
              <a:srgbClr val="ED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49808" y="4306824"/>
            <a:ext cx="3163824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0E2A47"/>
                </a:solidFill>
                <a:latin typeface="Arial"/>
              </a:rPr>
              <a:t>MEASUREMENT GAP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4581144"/>
            <a:ext cx="3163824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2000"/>
              </a:lnSpc>
            </a:pPr>
            <a:r>
              <a:rPr sz="1250" b="1" i="0">
                <a:solidFill>
                  <a:srgbClr val="0E2A47"/>
                </a:solidFill>
                <a:latin typeface="Arial"/>
              </a:rPr>
              <a:t>One average hides eight different segments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8" y="5056632"/>
            <a:ext cx="3163824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8000"/>
              </a:lnSpc>
            </a:pPr>
            <a:r>
              <a:rPr sz="930" b="0" i="0">
                <a:solidFill>
                  <a:srgbClr val="3D5166"/>
                </a:solidFill>
                <a:latin typeface="Arial"/>
              </a:rPr>
              <a:t>"Average Recency: 100 days" averages Elite Value (15 days) with Churned (250 days). No real customer looks like that number until a segment filter is applied.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51960" y="4160520"/>
            <a:ext cx="3566160" cy="2148840"/>
          </a:xfrm>
          <a:prstGeom prst="roundRect">
            <a:avLst>
              <a:gd name="adj" fmla="val 0"/>
            </a:avLst>
          </a:prstGeom>
          <a:solidFill>
            <a:srgbClr val="EDF2F8"/>
          </a:solidFill>
          <a:ln w="9525">
            <a:solidFill>
              <a:srgbClr val="ED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453128" y="4306824"/>
            <a:ext cx="3163824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0E2A47"/>
                </a:solidFill>
                <a:latin typeface="Arial"/>
              </a:rPr>
              <a:t>PRESENTATION SLIP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53128" y="4581144"/>
            <a:ext cx="3163824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2000"/>
              </a:lnSpc>
            </a:pPr>
            <a:r>
              <a:rPr sz="1250" b="1" i="0">
                <a:solidFill>
                  <a:srgbClr val="0E2A47"/>
                </a:solidFill>
                <a:latin typeface="Arial"/>
              </a:rPr>
              <a:t>A mislabeled matrix, and clipped visuals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53128" y="5056632"/>
            <a:ext cx="3163824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8000"/>
              </a:lnSpc>
            </a:pPr>
            <a:r>
              <a:rPr sz="930" b="0" i="0">
                <a:solidFill>
                  <a:srgbClr val="3D5166"/>
                </a:solidFill>
                <a:latin typeface="Arial"/>
              </a:rPr>
              <a:t>Customer Profile shows two tables titled "Occupation Distribution", but the left one is actually education level. The Gender/Age charts and segment table also scroll internally, hiding rows in a static export.</a:t>
            </a:r>
          </a:p>
        </p:txBody>
      </p:sp>
    </p:spTree>
    <p:extLst>
      <p:ext uri="{BB962C8B-B14F-4D97-AF65-F5344CB8AC3E}">
        <p14:creationId xmlns:p14="http://schemas.microsoft.com/office/powerpoint/2010/main" val="29167828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EDF2F8"/>
                </a:solidFill>
                <a:latin typeface="Arial"/>
              </a:rPr>
              <a:t>NEXT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320040"/>
            <a:ext cx="13716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DC3E6"/>
                </a:solidFill>
                <a:latin typeface="Consolas"/>
              </a:rPr>
              <a:t>13 /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14400"/>
            <a:ext cx="91440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30000"/>
              </a:lnSpc>
            </a:pPr>
            <a:r>
              <a:rPr sz="3000" b="1" i="0">
                <a:solidFill>
                  <a:srgbClr val="FFFFFF"/>
                </a:solidFill>
                <a:latin typeface="Arial"/>
              </a:rPr>
              <a:t>Three moves, in this order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96012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D6E4F0"/>
                </a:solidFill>
                <a:latin typeface="Arial"/>
              </a:rPr>
              <a:t>Fix the measurement first: every recommendation in this deck depends on trusting the segment numbers behind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331720"/>
            <a:ext cx="338328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</a:pPr>
            <a:r>
              <a:rPr sz="48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246120"/>
            <a:ext cx="3383280" cy="2011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D6E4F0"/>
                </a:solidFill>
                <a:latin typeface="Arial"/>
              </a:rPr>
              <a:t>Fix the naming typo in the At-Risk measures. It's a one-line DAX change, and the KPI cards become accurate immediately.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0" y="2331720"/>
            <a:ext cx="338328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</a:pPr>
            <a:r>
              <a:rPr sz="48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0" y="3246120"/>
            <a:ext cx="3383280" cy="2011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D6E4F0"/>
                </a:solidFill>
                <a:latin typeface="Arial"/>
              </a:rPr>
              <a:t>Pilot a win-back offer with Cooling-Down customers, the most price-responsive group and the cheapest to recover, and measure the lift before extending it to Dormant.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2331720"/>
            <a:ext cx="338328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</a:pPr>
            <a:r>
              <a:rPr sz="48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0" y="3246120"/>
            <a:ext cx="3383280" cy="2011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D6E4F0"/>
                </a:solidFill>
                <a:latin typeface="Arial"/>
              </a:rPr>
              <a:t>Add cost data to the promo measures so the next version of the dashboard reports profit, not just revenue.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172200"/>
            <a:ext cx="11091672" cy="12700"/>
          </a:xfrm>
          <a:prstGeom prst="rect">
            <a:avLst/>
          </a:prstGeom>
          <a:solidFill>
            <a:srgbClr val="9D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48640" y="6309360"/>
            <a:ext cx="6400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</a:pPr>
            <a:r>
              <a:rPr sz="1000" b="0" i="0" dirty="0">
                <a:solidFill>
                  <a:srgbClr val="B4C7DC"/>
                </a:solidFill>
                <a:latin typeface="Arial"/>
              </a:rPr>
              <a:t>RFM Customer Segmentation Report: Promotional </a:t>
            </a:r>
            <a:r>
              <a:rPr lang="en-US" sz="1000" b="0" i="0" dirty="0">
                <a:solidFill>
                  <a:srgbClr val="B4C7DC"/>
                </a:solidFill>
                <a:latin typeface="Arial"/>
              </a:rPr>
              <a:t>Analysis</a:t>
            </a:r>
            <a:endParaRPr sz="1000" b="0" i="0" dirty="0">
              <a:solidFill>
                <a:srgbClr val="B4C7DC"/>
              </a:solidFill>
              <a:latin typeface="Arial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7772400" y="6309360"/>
            <a:ext cx="38404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B4C7DC"/>
                </a:solidFill>
                <a:latin typeface="Arial"/>
              </a:rPr>
              <a:t>Source: RFM_Updated_2.pbix</a:t>
            </a:r>
          </a:p>
        </p:txBody>
      </p:sp>
    </p:spTree>
    <p:extLst>
      <p:ext uri="{BB962C8B-B14F-4D97-AF65-F5344CB8AC3E}">
        <p14:creationId xmlns:p14="http://schemas.microsoft.com/office/powerpoint/2010/main" val="3888493968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52319AFF-6882-451B-A637-E2A9D260CAC2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5d4e1439-a7f8-4218-8051-f5d5df9f008b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94</TotalTime>
  <Words>1894</Words>
  <Application>Microsoft Office PowerPoint</Application>
  <PresentationFormat>Widescreen</PresentationFormat>
  <Paragraphs>230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Nguyen Khanh Linh</cp:lastModifiedBy>
  <cp:revision>3</cp:revision>
  <dcterms:created xsi:type="dcterms:W3CDTF">2013-01-27T09:14:16Z</dcterms:created>
  <dcterms:modified xsi:type="dcterms:W3CDTF">2026-09-15T11:56:57Z</dcterms:modified>
  <cp:category/>
</cp:coreProperties>
</file>