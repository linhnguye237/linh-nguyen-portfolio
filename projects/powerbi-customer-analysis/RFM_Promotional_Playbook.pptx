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7" r:id="rId2"/>
    <p:sldId id="340" r:id="rId3"/>
    <p:sldId id="331" r:id="rId4"/>
    <p:sldId id="332" r:id="rId5"/>
    <p:sldId id="333" r:id="rId6"/>
    <p:sldId id="334" r:id="rId7"/>
    <p:sldId id="328" r:id="rId8"/>
    <p:sldId id="335" r:id="rId9"/>
    <p:sldId id="336" r:id="rId10"/>
    <p:sldId id="337" r:id="rId11"/>
    <p:sldId id="338" r:id="rId12"/>
    <p:sldId id="339" r:id="rId13"/>
    <p:sldId id="341" r:id="rId14"/>
    <p:sldId id="34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19" Type="http://schemas.openxmlformats.org/officeDocument/2006/relationships/slide" Target="slides/slide14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Do not remove" hidden="1">
            <a:extLst>
              <a:ext uri="{FF2B5EF4-FFF2-40B4-BE49-F238E27FC236}">
                <a16:creationId xmlns:a16="http://schemas.microsoft.com/office/drawing/2014/main" id="{A1F78D2A-96F0-6F25-AA7C-CB956FE2212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EDF2F8"/>
                </a:solidFill>
                <a:latin typeface="Arial"/>
              </a:rPr>
              <a:t>KPIM · CUSTOMER ANALYTICS</a:t>
            </a:r>
            <a:endParaRPr lang="en-US" sz="1100" b="1" i="0" dirty="0">
              <a:solidFill>
                <a:srgbClr val="EDF2F8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lang="en-US" sz="1100" b="1" dirty="0">
                <a:solidFill>
                  <a:srgbClr val="EDF2F8"/>
                </a:solidFill>
                <a:latin typeface="Arial"/>
              </a:rPr>
              <a:t>AUTHOR: LINH NGUYEN</a:t>
            </a:r>
            <a:endParaRPr sz="1100" b="1" i="0" dirty="0">
              <a:solidFill>
                <a:srgbClr val="EDF2F8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C3E6"/>
                </a:solidFill>
                <a:latin typeface="Consolas"/>
              </a:rPr>
              <a:t>01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EDF2F8"/>
                </a:solidFill>
                <a:latin typeface="Arial"/>
              </a:rPr>
              <a:t>RFM SEGMENTATION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674553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4000" b="1" i="0" dirty="0" err="1">
                <a:solidFill>
                  <a:srgbClr val="FFFFFF"/>
                </a:solidFill>
                <a:latin typeface="Arial"/>
              </a:rPr>
              <a:t>Winmart</a:t>
            </a:r>
            <a:r>
              <a:rPr lang="en-US" sz="4000" b="1" i="0" dirty="0">
                <a:solidFill>
                  <a:srgbClr val="FFFFFF"/>
                </a:solidFill>
                <a:latin typeface="Arial"/>
              </a:rPr>
              <a:t> Promotional Analysis Report </a:t>
            </a:r>
            <a:endParaRPr sz="4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749807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D6E4F0"/>
                </a:solidFill>
                <a:latin typeface="Arial"/>
              </a:rPr>
              <a:t>Where to spend promotional budget, based on the RFM Customer Segmentation dashboard, and an honest look at where the dashboard itself still needs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74920"/>
            <a:ext cx="10607040" cy="127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</a:rPr>
              <a:t>18.36K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4C7DC"/>
                </a:solidFill>
                <a:latin typeface="Arial"/>
              </a:rPr>
              <a:t>Customers 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25780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57607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4C7DC"/>
                </a:solidFill>
                <a:latin typeface="Arial"/>
              </a:rPr>
              <a:t>RFM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25780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</a:rPr>
              <a:t>17.91bn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57607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4C7DC"/>
                </a:solidFill>
                <a:latin typeface="Arial"/>
              </a:rPr>
              <a:t>Revenue analyzed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25780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</a:rPr>
              <a:t>2020 to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7607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4C7DC"/>
                </a:solidFill>
                <a:latin typeface="Arial"/>
              </a:rPr>
              <a:t>Transaction window</a:t>
            </a:r>
          </a:p>
        </p:txBody>
      </p:sp>
    </p:spTree>
    <p:extLst>
      <p:ext uri="{BB962C8B-B14F-4D97-AF65-F5344CB8AC3E}">
        <p14:creationId xmlns:p14="http://schemas.microsoft.com/office/powerpoint/2010/main" val="263682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000" b="1" i="0" dirty="0">
                <a:solidFill>
                  <a:srgbClr val="0E2A47"/>
                </a:solidFill>
                <a:latin typeface="Arial"/>
              </a:rPr>
              <a:t>Four things worth acting on this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6070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D5166"/>
                </a:solidFill>
                <a:latin typeface="Arial"/>
              </a:rPr>
              <a:t>The numbers describe a promotional program that grew by habit rather than design: one discount type, run on an irregular schedule, offered to everyone instead of the segments most likely to respond.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193792" cy="2057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5B6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060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One discount type, offered to everyone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17520"/>
            <a:ext cx="4681728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Nearly every discount in the data is the same quantity-based offer. It works: promo orders average 4.7x the basket size of full-price orders, but it goes to every customer equally, not to the segments that respond most.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2148840"/>
            <a:ext cx="5193792" cy="2057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5B6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060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23% of revenue sits in at-risk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4681728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4,818 customers (26%) are in at-risk segments, holding 4.05bn (23%) of revenue. Cooling-Down customers are the easiest group to win back, and a filter bug means the dashboard currently misses them (p.12).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5193792" cy="2057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5262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5B6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80060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Promotions ran in bursts, not on a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212080"/>
            <a:ext cx="4681728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Promo's share of revenue went from 1.1% to 54.3% to 16.1% across three years. Swings that large give customers a reason to wait for the next sale instead of buying steadily.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4343400"/>
            <a:ext cx="5193792" cy="2057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5262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5B6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0060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We measure sales, not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212080"/>
            <a:ext cx="4681728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The model holds discount rates and unit costs, but nothing joins them into a margin view, so a promotion that sold a lot at a loss looks the same as one that made money.</a:t>
            </a:r>
          </a:p>
        </p:txBody>
      </p:sp>
    </p:spTree>
    <p:extLst>
      <p:ext uri="{BB962C8B-B14F-4D97-AF65-F5344CB8AC3E}">
        <p14:creationId xmlns:p14="http://schemas.microsoft.com/office/powerpoint/2010/main" val="332053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THE DASHBOARD, TAB BY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The dashboard opens by stating its scope: CRM and ERP transaction data through 2022, scored on Recency, Frequency, and Monetary value, with one goal: better CRM and marketing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040880" cy="461772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12848"/>
            <a:ext cx="6784848" cy="37825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828800"/>
            <a:ext cx="3822191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WHAT'S ON THIS TAB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28600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28600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Source line: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KPIM/KM2 CRM &amp; ERP systems, transactional data through 2022.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29184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329184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Stated method: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RFM Analysis (Recency, Frequency, Monetary), the same scoring this playbook builds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9768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429768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Navigation: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four working tabs, Introduction, Overview, Customer Profile, Behavioral &amp; Diagnostic.</a:t>
            </a:r>
          </a:p>
        </p:txBody>
      </p:sp>
    </p:spTree>
    <p:extLst>
      <p:ext uri="{BB962C8B-B14F-4D97-AF65-F5344CB8AC3E}">
        <p14:creationId xmlns:p14="http://schemas.microsoft.com/office/powerpoint/2010/main" val="353053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THE DASHBOARD, TAB BY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The company at a glance: customer base size, average RFM scores, segment mix, and a three-year revenue trend.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040880" cy="461772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12848"/>
            <a:ext cx="6784848" cy="3827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828800"/>
            <a:ext cx="3822191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READING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28600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28600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18.36K customers, 17.91bn revenue, 8 segments,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the totals every other tab drills into.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29184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329184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The revenue trend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shows a mid-2021 spike that lines up with that year's promotional surge (p.02).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9768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429768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Average Recency (100 days)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mixes very different segments into one number, and p.12 explains why that misleads.</a:t>
            </a:r>
          </a:p>
        </p:txBody>
      </p:sp>
    </p:spTree>
    <p:extLst>
      <p:ext uri="{BB962C8B-B14F-4D97-AF65-F5344CB8AC3E}">
        <p14:creationId xmlns:p14="http://schemas.microsoft.com/office/powerpoint/2010/main" val="74742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THE DASHBOARD, TAB BY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Customer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Demographics broken out by segment: loyalty tier, gender, age, income, education, and occupation, so a promotion can match who is actually in each segment, not just how they scored.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040880" cy="461772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12848"/>
            <a:ext cx="6784848" cy="38149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828800"/>
            <a:ext cx="3822191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READING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28600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28600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Loyalty-tier crosstab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shows almost no one above Silver, Gold and Platinum rows are single digits.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29184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329184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The top-right "Occupation Distribution" chart is mislabeled: it's actually</a:t>
            </a:r>
            <a:r>
              <a:rPr sz="1100" b="0" i="0">
                <a:solidFill>
                  <a:srgbClr val="3D5166"/>
                </a:solidFill>
                <a:latin typeface="Arial"/>
              </a:rPr>
              <a:t> education level (p.12).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9768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429768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Gender and Age bars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only show 5 of 8 segments before scrolling, also flagged on p.12.</a:t>
            </a:r>
          </a:p>
        </p:txBody>
      </p:sp>
    </p:spTree>
    <p:extLst>
      <p:ext uri="{BB962C8B-B14F-4D97-AF65-F5344CB8AC3E}">
        <p14:creationId xmlns:p14="http://schemas.microsoft.com/office/powerpoint/2010/main" val="233700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THE DASHBOARD, TAB BY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Behavioral &amp;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The tab most relevant to promotions: discount usage by segment, promo vs. full-price revenue over time, promotion effectiveness, and the churn-risk cards this deck corrects on p.12.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040880" cy="461772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1993392"/>
            <a:ext cx="82296" cy="8229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12848"/>
            <a:ext cx="6784848" cy="37796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828800"/>
            <a:ext cx="3822191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READING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28600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28600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"Top Promotions by Order Volume"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is almost entirely one bar: the shallow, 2%-off quantity tier.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29184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329184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"Customers at Churn Risk: 3.65K" / "Revenue at Churn Risk: 2.69bn"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are both undercounts (true figures 4,818 / 4.05bn). See p.12.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97680"/>
            <a:ext cx="54864" cy="822960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4297680"/>
            <a:ext cx="3621023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E2A47"/>
                </a:solidFill>
                <a:latin typeface="Arial"/>
              </a:rPr>
              <a:t>Cooling-Down customers </a:t>
            </a:r>
            <a:r>
              <a:rPr sz="1100" b="0" i="0">
                <a:solidFill>
                  <a:srgbClr val="3D5166"/>
                </a:solidFill>
                <a:latin typeface="Arial"/>
              </a:rPr>
              <a:t>show the highest discount usage rate of any segment on this tab, a sign they respond to price.</a:t>
            </a:r>
          </a:p>
        </p:txBody>
      </p:sp>
    </p:spTree>
    <p:extLst>
      <p:ext uri="{BB962C8B-B14F-4D97-AF65-F5344CB8AC3E}">
        <p14:creationId xmlns:p14="http://schemas.microsoft.com/office/powerpoint/2010/main" val="463220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6172200"/>
            <a:ext cx="11091672" cy="127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SectionLabel"/>
          <p:cNvSpPr txBox="1"/>
          <p:nvPr/>
        </p:nvSpPr>
        <p:spPr>
          <a:xfrm>
            <a:off x="0" y="2413000"/>
            <a:ext cx="121920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100" b="1" spc="400" dirty="0">
                <a:solidFill>
                  <a:srgbClr val="9DC3E6"/>
                </a:solidFill>
                <a:latin typeface="Arial"/>
              </a:rPr>
              <a:t>THE PLAYBOOK</a:t>
            </a:r>
          </a:p>
        </p:txBody>
      </p:sp>
      <p:sp>
        <p:nvSpPr>
          <p:cNvPr id="901" name="SectionTitle"/>
          <p:cNvSpPr txBox="1"/>
          <p:nvPr/>
        </p:nvSpPr>
        <p:spPr>
          <a:xfrm>
            <a:off x="0" y="2870200"/>
            <a:ext cx="12192000" cy="1143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5400" b="1" i="0" dirty="0">
                <a:solidFill>
                  <a:srgbClr val="FFFFFF"/>
                </a:solidFill>
                <a:latin typeface="Arial"/>
              </a:rPr>
              <a:t>Recommendations</a:t>
            </a:r>
          </a:p>
        </p:txBody>
      </p:sp>
      <p:sp>
        <p:nvSpPr>
          <p:cNvPr id="902" name="Pagination"/>
          <p:cNvSpPr txBox="1"/>
          <p:nvPr/>
        </p:nvSpPr>
        <p:spPr>
          <a:xfrm>
            <a:off x="10668000" y="3810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en-US" sz="1000" b="0" dirty="0">
                <a:solidFill>
                  <a:srgbClr val="9DC3E6"/>
                </a:solidFill>
                <a:latin typeface="Consolas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271954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THE SEGMENT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200" b="1" i="0" dirty="0">
                <a:solidFill>
                  <a:srgbClr val="0E2A47"/>
                </a:solidFill>
                <a:latin typeface="Arial"/>
              </a:rPr>
              <a:t>Eight segments, two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9152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50" b="0" i="0" dirty="0">
                <a:solidFill>
                  <a:srgbClr val="3D5166"/>
                </a:solidFill>
                <a:latin typeface="Arial"/>
              </a:rPr>
              <a:t>Grow and protect the segments already producing revenue; win back the ones going quiet. Promo Dependency combines how often a segment uses discounts with how much of its revenue comes from them.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42685"/>
          <a:ext cx="978407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Base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Rev.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Rec.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Freq.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Mon.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Promo Dep.</a:t>
                      </a:r>
                    </a:p>
                  </a:txBody>
                  <a:tcPr marL="73152" marR="73152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Elite Value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1,566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8.5%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0E2A47"/>
                          </a:solidFill>
                          <a:latin typeface="Consolas"/>
                        </a:rPr>
                        <a:t>4.33bn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24.2%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15d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2.9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2.77M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1.9%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Core Revenue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1,852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10.1%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2.35bn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13.1%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39d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2.4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1.27M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1.6%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Growth Candidates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3,642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19.8%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2.57bn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14.4%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27d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1.2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0.71M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1.9%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Early-Stage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2,851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15.5%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1.82bn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10.2%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63d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0.64M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2.0%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Cooling-Down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1,171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6.4%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1.36bn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7.6%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72d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2.0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1.16M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3.1%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Dormant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3,476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18.9%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2.40bn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13.4%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132d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1.2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0.69M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1.6%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High-Risk High-Value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171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0.9%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0.29bn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1.6%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123d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3.0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1.68M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1.1%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</a:rPr>
                        <a:t>Churned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3,635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19.8%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2.78bn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15.5%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250d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1.1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E2A47"/>
                          </a:solidFill>
                          <a:latin typeface="Consolas"/>
                        </a:rPr>
                        <a:t>0.76M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0E2A47"/>
                          </a:solidFill>
                          <a:latin typeface="Consolas"/>
                        </a:rPr>
                        <a:t>2.6%</a:t>
                      </a:r>
                    </a:p>
                  </a:txBody>
                  <a:tcPr marR="7315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30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RECOMMENDATIONS, GROW &amp; PROTECT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Spend on perks, not discounts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These four segments already produce 62% of revenue. The goal is to grow them further without teaching them to expect a discount.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Elite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24.2% of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0604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They already use the quantity discount more than anyone. Instead of deeper discounts, show how close they are to the next tier ("3 more units unlocks 15% off") and offer perks that don't cut price: early access, free shipping, tier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96596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61888" y="196596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Core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2.4 orders avg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They spend well but order rarely. Cross-sell bundles and "you're close to Elite" volume prompts fit this group better than blanket price cuts.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Growth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3,642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84632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The largest healthy segment: recent buyers who haven't ordered often yet. A small, time-limited incentive aimed at a second or third purchase reaches more customers than any other move on this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1888" y="420624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61888" y="420624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Early-Stage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39% promo rev.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They rarely use promos (5.1% of orders), but when they do, promos make up 39% of their spend. A first-purchase volume offer can build the habit before they drift toward Dormant.</a:t>
            </a:r>
          </a:p>
        </p:txBody>
      </p:sp>
    </p:spTree>
    <p:extLst>
      <p:ext uri="{BB962C8B-B14F-4D97-AF65-F5344CB8AC3E}">
        <p14:creationId xmlns:p14="http://schemas.microsoft.com/office/powerpoint/2010/main" val="406348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RECOMMENDATIONS, WIN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Win back at-risk customers, cheapest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4,818 customers holding 4.05bn in revenue, all inactive to different degrees. Work through them in the order below, cheapest recovery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Cooling-Down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Dependency 3.1%, highest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0604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Inactive only 72 days, and the most price-responsive segment in the base. They should get the first reactivation offer, and note the dashboard's own risk cards currently miss them entirely (p.12).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96596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61888" y="196596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Dormant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3,476 customers, largest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After 132 days away, a percentage off alone probably isn't enough. Pair the discount with free shipping or a bundle to make a return order worth the trip.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High-Risk High-Value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1.68M avg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84632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Only 171 customers, but the second-highest average spend and the least discount-dependent. A discount isn't the right tool here. Personal outreach is, and with 171 people that's affordable.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1888" y="4206240"/>
            <a:ext cx="5193792" cy="2103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61888" y="4206240"/>
            <a:ext cx="5193792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0E2A47"/>
                </a:solidFill>
                <a:latin typeface="Arial"/>
              </a:rPr>
              <a:t>Churned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89120"/>
            <a:ext cx="4681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36% promo rev.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468172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5166"/>
                </a:solidFill>
                <a:latin typeface="Arial"/>
              </a:rPr>
              <a:t>Gone 250 days, but when they did buy, promos drove 36% of their spend, the second highest of any segment. Test discount depth on a small sample before writing them off.</a:t>
            </a:r>
          </a:p>
        </p:txBody>
      </p:sp>
    </p:spTree>
    <p:extLst>
      <p:ext uri="{BB962C8B-B14F-4D97-AF65-F5344CB8AC3E}">
        <p14:creationId xmlns:p14="http://schemas.microsoft.com/office/powerpoint/2010/main" val="387809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FIX THE MECHANIC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Before targeting better, run it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881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5166"/>
                </a:solidFill>
                <a:latin typeface="Arial"/>
              </a:rPr>
              <a:t>Four changes to how promotions are planned and measured, regardless of which segment they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640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E2A47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2A47"/>
                </a:solidFill>
                <a:latin typeface="Arial"/>
              </a:rPr>
              <a:t>Stabilize the 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50008"/>
            <a:ext cx="9784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</a:pPr>
            <a:r>
              <a:rPr sz="1080" b="0" i="0">
                <a:solidFill>
                  <a:srgbClr val="3D5166"/>
                </a:solidFill>
                <a:latin typeface="Arial"/>
              </a:rPr>
              <a:t>Promo's share of revenue swung from 1.1% to 54.3% to 16.1% across three years. A planned, steady schedule gives customers less reason to hold out for the next big sale.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1672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640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E2A47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72968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2A47"/>
                </a:solidFill>
                <a:latin typeface="Arial"/>
              </a:rPr>
              <a:t>Retire or relaunch "new product" offers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4"/>
            <a:ext cx="9784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</a:pPr>
            <a:r>
              <a:rPr sz="1080" b="0" i="0">
                <a:solidFill>
                  <a:srgbClr val="3D5166"/>
                </a:solidFill>
                <a:latin typeface="Arial"/>
              </a:rPr>
              <a:t>33 orders on an average 17% discount, earning a 23.5% margin after unit cost vs. 40.9% at full price. It still makes money, but about half as much per sale. Either drop the offer or re-test its placement and messaging before spending more on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87952"/>
            <a:ext cx="11091672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E2A47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06824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2A47"/>
                </a:solidFill>
                <a:latin typeface="Arial"/>
              </a:rPr>
              <a:t>Show customers the deeper discount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17720"/>
            <a:ext cx="9784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</a:pPr>
            <a:r>
              <a:rPr sz="1080" b="0" i="0">
                <a:solidFill>
                  <a:srgbClr val="3D5166"/>
                </a:solidFill>
                <a:latin typeface="Arial"/>
              </a:rPr>
              <a:t>98% of quantity-discount orders stop at the shallowest tier (5 units, 2% off). The 5%, 10%, 15% and 20% tiers already exist but barely get used. Telling customers how close they are to the next tier costs little to 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21808"/>
            <a:ext cx="11091672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640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E2A47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40680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2A47"/>
                </a:solidFill>
                <a:latin typeface="Arial"/>
              </a:rPr>
              <a:t>Measure profit, not just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751576"/>
            <a:ext cx="9784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</a:pPr>
            <a:r>
              <a:rPr sz="1080" b="0" i="0">
                <a:solidFill>
                  <a:srgbClr val="3D5166"/>
                </a:solidFill>
                <a:latin typeface="Arial"/>
              </a:rPr>
              <a:t>Unit cost is already on every sales line, but no measure uses it. Join it to sales, and "promotion effectiveness" can report profit contribution instead of just sales.</a:t>
            </a:r>
          </a:p>
        </p:txBody>
      </p:sp>
    </p:spTree>
    <p:extLst>
      <p:ext uri="{BB962C8B-B14F-4D97-AF65-F5344CB8AC3E}">
        <p14:creationId xmlns:p14="http://schemas.microsoft.com/office/powerpoint/2010/main" val="2599853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WHERE THE DASHBOARD STILL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Fix the model before trusting the KPI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D5166"/>
                </a:solidFill>
                <a:latin typeface="Arial"/>
              </a:rPr>
              <a:t>Each of these was verified against the dashboard's own DAX and data (p.14). The dashboard was submitted as-is, so they are documented here, not fixed.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66160" cy="2148840"/>
          </a:xfrm>
          <a:prstGeom prst="roundRect">
            <a:avLst>
              <a:gd name="adj" fmla="val 0"/>
            </a:avLst>
          </a:prstGeom>
          <a:solidFill>
            <a:srgbClr val="EDF2F8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020823"/>
            <a:ext cx="3163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3D5166"/>
                </a:solidFill>
                <a:latin typeface="Arial"/>
              </a:rPr>
              <a:t>CONFIRMED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95143"/>
            <a:ext cx="31638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2A47"/>
                </a:solidFill>
                <a:latin typeface="Arial"/>
              </a:rPr>
              <a:t>Churn-risk cards undercount by 1,171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70631"/>
            <a:ext cx="3163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3D5166"/>
                </a:solidFill>
                <a:latin typeface="Arial"/>
              </a:rPr>
              <a:t>The "at-risk" filter looks for "Cooling Down Customers" (no hyphen); the real segment name has a hyphen. The mismatch silently drops the whole segment.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02735"/>
            <a:ext cx="3163824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34739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0E2A47"/>
                </a:solidFill>
                <a:latin typeface="Consolas"/>
              </a:rPr>
              <a:t>Shown 3.65K/2.69bn -&gt; actual 4,818/4.05bn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74519"/>
            <a:ext cx="3566160" cy="2148840"/>
          </a:xfrm>
          <a:prstGeom prst="roundRect">
            <a:avLst>
              <a:gd name="adj" fmla="val 0"/>
            </a:avLst>
          </a:prstGeom>
          <a:solidFill>
            <a:srgbClr val="EDF2F8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2020823"/>
            <a:ext cx="3163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E2A47"/>
                </a:solidFill>
                <a:latin typeface="Arial"/>
              </a:rPr>
              <a:t>DATA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295143"/>
            <a:ext cx="31638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2A47"/>
                </a:solidFill>
                <a:latin typeface="Arial"/>
              </a:rPr>
              <a:t>No sale falls inside any promotion's 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770631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3D5166"/>
                </a:solidFill>
                <a:latin typeface="Arial"/>
              </a:rPr>
              <a:t>All 16 promotions have validity windows between 2010 and mid-2014, but every transaction is from 2020-2022. 8 of the 16 have no sales at all, so "Promotion Effectiveness by Type" really covers 2 promotion types, not the full catalog it implies.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74519"/>
            <a:ext cx="3566160" cy="2148840"/>
          </a:xfrm>
          <a:prstGeom prst="roundRect">
            <a:avLst>
              <a:gd name="adj" fmla="val 0"/>
            </a:avLst>
          </a:prstGeom>
          <a:solidFill>
            <a:srgbClr val="EDF2F8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7" y="2020823"/>
            <a:ext cx="3163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E2A47"/>
                </a:solidFill>
                <a:latin typeface="Arial"/>
              </a:rPr>
              <a:t>MEASUREMENT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295143"/>
            <a:ext cx="31638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2A47"/>
                </a:solidFill>
                <a:latin typeface="Arial"/>
              </a:rPr>
              <a:t>Effectiveness is revenue, not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2770631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3D5166"/>
                </a:solidFill>
                <a:latin typeface="Arial"/>
              </a:rPr>
              <a:t>unit_cost is on every sales line, but none of the 40 measures uses it, so a deep, low-margin discount looks identical to an efficient one. At unit cost, new-product offers earn 23.5% vs. 40.9% at full price.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3566160" cy="2148840"/>
          </a:xfrm>
          <a:prstGeom prst="roundRect">
            <a:avLst>
              <a:gd name="adj" fmla="val 0"/>
            </a:avLst>
          </a:prstGeom>
          <a:solidFill>
            <a:srgbClr val="EDF2F8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306824"/>
            <a:ext cx="3163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E2A47"/>
                </a:solidFill>
                <a:latin typeface="Arial"/>
              </a:rPr>
              <a:t>MEASUREMENT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81144"/>
            <a:ext cx="31638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2A47"/>
                </a:solidFill>
                <a:latin typeface="Arial"/>
              </a:rPr>
              <a:t>One average hides eight different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56632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3D5166"/>
                </a:solidFill>
                <a:latin typeface="Arial"/>
              </a:rPr>
              <a:t>"Average Recency: 100 days" averages Elite Value (15 days) with Churned (250 days). No real customer looks like that number until a segment filter is applied.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160520"/>
            <a:ext cx="3566160" cy="2148840"/>
          </a:xfrm>
          <a:prstGeom prst="roundRect">
            <a:avLst>
              <a:gd name="adj" fmla="val 0"/>
            </a:avLst>
          </a:prstGeom>
          <a:solidFill>
            <a:srgbClr val="EDF2F8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4306824"/>
            <a:ext cx="3163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E2A47"/>
                </a:solidFill>
                <a:latin typeface="Arial"/>
              </a:rPr>
              <a:t>PRESENTATION SLIP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581144"/>
            <a:ext cx="31638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2A47"/>
                </a:solidFill>
                <a:latin typeface="Arial"/>
              </a:rPr>
              <a:t>A mislabeled chart, and clipped visuals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5056632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3D5166"/>
                </a:solidFill>
                <a:latin typeface="Arial"/>
              </a:rPr>
              <a:t>Customer Profile shows two charts titled "Occupation Distribution", but the top-right one is actually education level. The Gender/Age charts and loyalty table also scroll internally, hiding rows in a static export.</a:t>
            </a:r>
          </a:p>
        </p:txBody>
      </p:sp>
      <p:sp>
        <p:nvSpPr>
          <p:cNvPr id="29" name="Rounded Rectangle 24"/>
          <p:cNvSpPr/>
          <p:nvPr/>
        </p:nvSpPr>
        <p:spPr>
          <a:xfrm>
            <a:off x="7955279" y="4160520"/>
            <a:ext cx="3566160" cy="2148840"/>
          </a:xfrm>
          <a:prstGeom prst="roundRect">
            <a:avLst>
              <a:gd name="adj" fmla="val 0"/>
            </a:avLst>
          </a:prstGeom>
          <a:solidFill>
            <a:srgbClr val="EDF2F8"/>
          </a:solidFill>
          <a:ln w="9525">
            <a:solidFill>
              <a:srgbClr val="ED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5"/>
          <p:cNvSpPr txBox="1"/>
          <p:nvPr/>
        </p:nvSpPr>
        <p:spPr>
          <a:xfrm>
            <a:off x="8156447" y="4306824"/>
            <a:ext cx="3163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E2A47"/>
                </a:solidFill>
                <a:latin typeface="Arial"/>
              </a:rPr>
              <a:t>DATA LIMITATION</a:t>
            </a:r>
          </a:p>
        </p:txBody>
      </p:sp>
      <p:sp>
        <p:nvSpPr>
          <p:cNvPr id="31" name="TextBox 26"/>
          <p:cNvSpPr txBox="1"/>
          <p:nvPr/>
        </p:nvSpPr>
        <p:spPr>
          <a:xfrm>
            <a:off x="8156447" y="4581144"/>
            <a:ext cx="31638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2A47"/>
                </a:solidFill>
                <a:latin typeface="Arial"/>
              </a:rPr>
              <a:t>Discount tiers don't match their own rules</a:t>
            </a:r>
          </a:p>
        </p:txBody>
      </p:sp>
      <p:sp>
        <p:nvSpPr>
          <p:cNvPr id="32" name="TextBox 27"/>
          <p:cNvSpPr txBox="1"/>
          <p:nvPr/>
        </p:nvSpPr>
        <p:spPr>
          <a:xfrm>
            <a:off x="8156447" y="5056632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3D5166"/>
                </a:solidFill>
                <a:latin typeface="Arial"/>
              </a:rPr>
              <a:t>dim_promotion says the 2% tier covers 11-14 units, but every sale under it is exactly 5 units. Each tier sells at one fixed quantity (5, 15, 25, 35, 45), so its min/max columns can't be used to study tier behavior.</a:t>
            </a:r>
          </a:p>
        </p:txBody>
      </p:sp>
    </p:spTree>
    <p:extLst>
      <p:ext uri="{BB962C8B-B14F-4D97-AF65-F5344CB8AC3E}">
        <p14:creationId xmlns:p14="http://schemas.microsoft.com/office/powerpoint/2010/main" val="291678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F2F8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C3E6"/>
                </a:solidFill>
                <a:latin typeface="Consolas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Three moves, in this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6E4F0"/>
                </a:solidFill>
                <a:latin typeface="Arial"/>
              </a:rPr>
              <a:t>Correct the measurement first: every recommendation in this deck depends on trusting the segment numbers behind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383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3832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6E4F0"/>
                </a:solidFill>
                <a:latin typeface="Arial"/>
              </a:rPr>
              <a:t>Read the churn-risk cards as 4,818 customers / 4.05bn, not 3.65K / 2.69bn. In any future version, the fix is a one-line DAX change to the At-Risk measures.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331720"/>
            <a:ext cx="3383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246120"/>
            <a:ext cx="33832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6E4F0"/>
                </a:solidFill>
                <a:latin typeface="Arial"/>
              </a:rPr>
              <a:t>Pilot a win-back offer with Cooling-Down customers, the most price-responsive group and the cheapest to recover, and measure the lift before extending it to Dormant.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31720"/>
            <a:ext cx="3383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46120"/>
            <a:ext cx="33832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6E4F0"/>
                </a:solidFill>
                <a:latin typeface="Arial"/>
              </a:rPr>
              <a:t>Add cost data to the promo measures so the next version of the dashboard reports profit, not just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172200"/>
            <a:ext cx="11091672" cy="127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B4C7DC"/>
                </a:solidFill>
                <a:latin typeface="Arial"/>
              </a:rPr>
              <a:t>RFM Customer Segmentation Report: Promotional </a:t>
            </a:r>
            <a:r>
              <a:rPr lang="en-US" sz="1000" b="0" i="0" dirty="0">
                <a:solidFill>
                  <a:srgbClr val="B4C7DC"/>
                </a:solidFill>
                <a:latin typeface="Arial"/>
              </a:rPr>
              <a:t>Analysis</a:t>
            </a:r>
            <a:endParaRPr sz="1000" b="0" i="0" dirty="0">
              <a:solidFill>
                <a:srgbClr val="B4C7DC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630936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4C7DC"/>
                </a:solidFill>
                <a:latin typeface="Arial"/>
              </a:rPr>
              <a:t>Source: RFM_Updated_2.pbix</a:t>
            </a:r>
          </a:p>
        </p:txBody>
      </p:sp>
    </p:spTree>
    <p:extLst>
      <p:ext uri="{BB962C8B-B14F-4D97-AF65-F5344CB8AC3E}">
        <p14:creationId xmlns:p14="http://schemas.microsoft.com/office/powerpoint/2010/main" val="388849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5B6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3D5166"/>
                </a:solidFill>
                <a:latin typeface="Consolas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E2A47"/>
                </a:solidFill>
                <a:latin typeface="Arial"/>
              </a:rPr>
              <a:t>How every figure was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D5166"/>
                </a:solidFill>
                <a:latin typeface="Arial"/>
              </a:rPr>
              <a:t>Each number was recomputed from the .pbix's own DAX, relationships and tables. Rows marked Revised differ from the first version of this deck.</a:t>
            </a:r>
          </a:p>
        </p:txBody>
      </p:sp>
      <p:graphicFrame>
        <p:nvGraphicFramePr>
          <p:cNvPr id="7" name="Verification Table"/>
          <p:cNvGraphicFramePr>
            <a:graphicFrameLocks noGrp="1"/>
          </p:cNvGraphicFramePr>
          <p:nvPr/>
        </p:nvGraphicFramePr>
        <p:xfrm>
          <a:off x="548640" y="1783080"/>
          <a:ext cx="10972800" cy="4169664"/>
        </p:xfrm>
        <a:graphic>
          <a:graphicData uri="http://schemas.openxmlformats.org/drawingml/2006/table">
            <a:tbl>
              <a:tblPr firstRow="1" bandRow="1"/>
              <a:tblGrid>
                <a:gridCol w="3474720"/>
                <a:gridCol w="2286000"/>
                <a:gridCol w="3017520"/>
                <a:gridCol w="2194560"/>
              </a:tblGrid>
              <a:tr h="34747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Figure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Dashboard / deck said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Model shows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0E2A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Customers / revenue at churn risk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3.65K / 2.69bn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4,818 / 4.05bn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/>
                        </a:rPr>
                        <a:t>Dashboard bug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Discount Dependency Index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2.05%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2.05%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Average recency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100 days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100.4 days (15 to 250 by segment)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Promo share of revenue 2020 / 21 / 22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1.1% / 54.3% / 16.1%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1.1% / 54.3% / 16.1%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Promo vs. full-price order value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4.7x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4.67x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Promo dependency by segment (p.8)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1.1% to 3.1%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1.1% to 3.1%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New-product offer: orders, discount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33, 17%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33, 17.0%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Matches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New-product offer: covers its cost?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Yes: 23.5% margin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/>
                        </a:rPr>
                        <a:t>Revised (p.11)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Orders at the shallowest tier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91%, 11-14 units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97.8%, exactly 5 units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/>
                        </a:rPr>
                        <a:t>Revised (p.11)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Promotions outside the data window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9 of 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16 of 16; 8 never used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/>
                        </a:rPr>
                        <a:t>Revised (p.12)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E2A47"/>
                          </a:solidFill>
                          <a:latin typeface="Arial"/>
                        </a:rPr>
                        <a:t>Mislabeled "Occupation" chart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Left one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3D5166"/>
                          </a:solidFill>
                          <a:latin typeface="Arial"/>
                        </a:rPr>
                        <a:t>Top-right one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/>
                        </a:rPr>
                        <a:t>Revised (p.5, p.12)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Method Note"/>
          <p:cNvSpPr txBox="1"/>
          <p:nvPr/>
        </p:nvSpPr>
        <p:spPr>
          <a:xfrm>
            <a:off x="548640" y="6089904"/>
            <a:ext cx="10972800" cy="3200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/>
            <a:r>
              <a:rPr lang="en-US" sz="900" b="0" i="1" dirty="0">
                <a:solidFill>
                  <a:srgbClr val="3D5166"/>
                </a:solidFill>
                <a:latin typeface="Arial"/>
              </a:rPr>
              <a:t>Method: the data model in RFM_Updated_2.pbix was extracted with pbixray and recomputed in pandas. Margin = sales_amount - unit_cost x order_quantity; it excludes any campaign costs not in the data.</a:t>
            </a:r>
          </a:p>
        </p:txBody>
      </p:sp>
    </p:spTree>
    <p:extLst>
      <p:ext uri="{BB962C8B-B14F-4D97-AF65-F5344CB8AC3E}">
        <p14:creationId xmlns:p14="http://schemas.microsoft.com/office/powerpoint/2010/main" val="291678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319AFF-6882-451B-A637-E2A9D260CAC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d4e1439-a7f8-4218-8051-f5d5df9f00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1894</Words>
  <Application>Microsoft Office PowerPoint</Application>
  <PresentationFormat>Widescreen</PresentationFormat>
  <Paragraphs>230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Khanh Linh</cp:lastModifiedBy>
  <cp:revision>3</cp:revision>
  <dcterms:created xsi:type="dcterms:W3CDTF">2013-01-27T09:14:16Z</dcterms:created>
  <dcterms:modified xsi:type="dcterms:W3CDTF">2026-09-15T11:56:57Z</dcterms:modified>
  <cp:category/>
</cp:coreProperties>
</file>